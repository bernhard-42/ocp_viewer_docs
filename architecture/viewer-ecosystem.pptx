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8" r:id="rId2"/>
    <p:sldId id="259" r:id="rId3"/>
  </p:sldIdLst>
  <p:sldSz cx="12192000" cy="6858000"/>
  <p:notesSz cx="6858000" cy="9144000"/>
  <p:defaultTextStyle>
    <a:defPPr>
      <a:defRPr lang="en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371"/>
    <p:restoredTop sz="94737"/>
  </p:normalViewPr>
  <p:slideViewPr>
    <p:cSldViewPr snapToGrid="0">
      <p:cViewPr varScale="1">
        <p:scale>
          <a:sx n="208" d="100"/>
          <a:sy n="208" d="100"/>
        </p:scale>
        <p:origin x="1592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D48F71-165D-77F9-962D-9072DA185F8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383EE9C-4D2A-A060-1192-1C09F978564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C7386B-A998-A91F-9BA7-2C99C47347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191D7D-AB0C-854E-97E0-BC94A1E8DDD6}" type="datetimeFigureOut">
              <a:rPr lang="en-DE" smtClean="0"/>
              <a:t>13.10.26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AEF834D-F640-CBA2-2AC4-C180722667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38FE4AC-9A30-AC02-F78C-B5F4178271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289BF6-45A7-B94A-9F53-8F8060C54BC6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7484625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2CF806-C61D-6885-1857-5442A9E74A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C93F7D-B352-3530-1A13-3C0687789F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0842A0-FBFF-9DD6-2A1E-B786151636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191D7D-AB0C-854E-97E0-BC94A1E8DDD6}" type="datetimeFigureOut">
              <a:rPr lang="en-DE" smtClean="0"/>
              <a:t>13.10.26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5849196-B804-D3E6-9BC4-02AB52DBEE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70E3A36-85FC-0643-3934-F5A9ECEC98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289BF6-45A7-B94A-9F53-8F8060C54BC6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39014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E66F55-7059-AA50-1828-E620B3CCEF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FDA3A05-C282-FA7F-A87D-592A3E23B9E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7077F3-5BF3-0D77-E383-4644878CDB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191D7D-AB0C-854E-97E0-BC94A1E8DDD6}" type="datetimeFigureOut">
              <a:rPr lang="en-DE" smtClean="0"/>
              <a:t>13.10.26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B87CBE-0F7A-4A73-7ED2-8D6984EA3B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6B0E11B-5B7C-2163-8459-2B65534D29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289BF6-45A7-B94A-9F53-8F8060C54BC6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72495549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425BB9-BCB6-F058-1463-43BA44AE95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85B859-5CA3-EC4B-52AF-3297DD9CCDB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0D43CAE-5643-6428-637E-D3A0E96C6B7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A9B6C20-5243-5D9C-339D-DF257FE713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191D7D-AB0C-854E-97E0-BC94A1E8DDD6}" type="datetimeFigureOut">
              <a:rPr lang="en-DE" smtClean="0"/>
              <a:t>13.10.26</a:t>
            </a:fld>
            <a:endParaRPr lang="en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E18B713-B7BC-F5E5-3774-6DB74E8003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25572AD-8878-63AE-4201-8FEEFBB387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289BF6-45A7-B94A-9F53-8F8060C54BC6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9802093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3B9219-AB2A-99AE-4EEA-182BC7E529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107F949-92F3-7FCC-5A60-F14A8F4B18D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DF5E5EB-8F23-D533-E2DE-887AFB546B5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E4FBE3B-42BB-EB84-C488-E4ED6F2B8DC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04E16A1-9855-B521-3706-D50C385585A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B206A78-C60B-E46B-ED85-36131B7B3F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191D7D-AB0C-854E-97E0-BC94A1E8DDD6}" type="datetimeFigureOut">
              <a:rPr lang="en-DE" smtClean="0"/>
              <a:t>13.10.26</a:t>
            </a:fld>
            <a:endParaRPr lang="en-DE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C65AE8B-45EB-9E01-CAEA-A8B9C3F5BB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CF9897C-F9EB-6C66-7D56-60A3124C8C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289BF6-45A7-B94A-9F53-8F8060C54BC6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44472631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1F8E6D-E3CC-2E10-D7C0-1F437D668F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4DDA930-4AA4-278D-DAC5-94F7A7237D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191D7D-AB0C-854E-97E0-BC94A1E8DDD6}" type="datetimeFigureOut">
              <a:rPr lang="en-DE" smtClean="0"/>
              <a:t>13.10.26</a:t>
            </a:fld>
            <a:endParaRPr lang="en-D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FDAAB31-C9B3-5E7A-A00B-1706FCE1D9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96FD3A0-E68E-A607-2F28-F590B5E988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289BF6-45A7-B94A-9F53-8F8060C54BC6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86641189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F266943-333A-A2C7-63E3-7E30424611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191D7D-AB0C-854E-97E0-BC94A1E8DDD6}" type="datetimeFigureOut">
              <a:rPr lang="en-DE" smtClean="0"/>
              <a:t>13.10.26</a:t>
            </a:fld>
            <a:endParaRPr lang="en-D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249C6CA-D52B-877E-C372-8C6E0262A9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217ADC0-C86D-B654-3166-45ED6482AA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289BF6-45A7-B94A-9F53-8F8060C54BC6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2609046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688DCF-502D-2CC7-BC64-6DB475A07F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E3D749-9666-D7E9-4C40-6B9173A496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65FC5B7-5A29-DD64-BE9D-2D69F5575A7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23362E0-988E-1309-8513-99F8FB1FAC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191D7D-AB0C-854E-97E0-BC94A1E8DDD6}" type="datetimeFigureOut">
              <a:rPr lang="en-DE" smtClean="0"/>
              <a:t>13.10.26</a:t>
            </a:fld>
            <a:endParaRPr lang="en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147DDD1-CC34-2EC6-1F06-C938EB0B14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650C82A-243F-5411-18A5-DB6B6223A6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289BF6-45A7-B94A-9F53-8F8060C54BC6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76285474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F72A17-7696-233D-967E-24379664F3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F9D955E-9EF1-14F9-2D75-4B3CD234F13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D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455B9D3-BBD6-3C1E-1133-547704E53B1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5A4CE21-7D73-9DC0-0488-BD7E70D27F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191D7D-AB0C-854E-97E0-BC94A1E8DDD6}" type="datetimeFigureOut">
              <a:rPr lang="en-DE" smtClean="0"/>
              <a:t>13.10.26</a:t>
            </a:fld>
            <a:endParaRPr lang="en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2AA5A4D-8D0E-3524-937E-1C54989C9B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27BD7F1-3837-75BA-F058-29649D2639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289BF6-45A7-B94A-9F53-8F8060C54BC6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00042255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804E0F-182C-5252-DD9F-E3215D1E3D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BEA5269-D6C0-1190-DCAD-3A2334BFD3A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6848829-6E82-7EE2-88B2-005E2E4A4F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191D7D-AB0C-854E-97E0-BC94A1E8DDD6}" type="datetimeFigureOut">
              <a:rPr lang="en-DE" smtClean="0"/>
              <a:t>13.10.26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ED37223-40FD-B85E-799D-E29E54B8A2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A12B6A0-DEC9-0CEF-BC1A-D2269D0DBC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289BF6-45A7-B94A-9F53-8F8060C54BC6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8001313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E5D652B-2962-A462-4F37-41DF3CB78D1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3275C2C-56EE-A4B5-95C4-B50EC49432C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9E581BF-A4D7-A18B-51EC-8CB73E5E5F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191D7D-AB0C-854E-97E0-BC94A1E8DDD6}" type="datetimeFigureOut">
              <a:rPr lang="en-DE" smtClean="0"/>
              <a:t>13.10.26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53BEA0C-CE29-86B0-5A25-730448CB21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CB0143F-41AC-0D33-56CF-A24CF03A3C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289BF6-45A7-B94A-9F53-8F8060C54BC6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88268530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A549E45-4F9F-180A-B757-BF72AD0ACC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2C90FED-E4DE-2536-0A5B-D4D839CE7F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1B981E8-68DA-47F9-05DC-85C6B476567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7191D7D-AB0C-854E-97E0-BC94A1E8DDD6}" type="datetimeFigureOut">
              <a:rPr lang="en-DE" smtClean="0"/>
              <a:t>13.10.26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1278E7-80CB-C812-2BC4-3215B7D9721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FFCB0E7-9F48-0507-E8BE-CF26970F0FD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0289BF6-45A7-B94A-9F53-8F8060C54BC6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56752616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8" name="Rectangle 507">
            <a:extLst>
              <a:ext uri="{FF2B5EF4-FFF2-40B4-BE49-F238E27FC236}">
                <a16:creationId xmlns:a16="http://schemas.microsoft.com/office/drawing/2014/main" id="{BFCC8E86-10C7-3CAB-FE28-ED1C0217F295}"/>
              </a:ext>
            </a:extLst>
          </p:cNvPr>
          <p:cNvSpPr/>
          <p:nvPr/>
        </p:nvSpPr>
        <p:spPr>
          <a:xfrm>
            <a:off x="8004130" y="2627886"/>
            <a:ext cx="93489" cy="548640"/>
          </a:xfrm>
          <a:prstGeom prst="rect">
            <a:avLst/>
          </a:prstGeom>
          <a:noFill/>
          <a:ln w="9525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3976B2A5-D1E0-88CC-C81C-0870E92B6E10}"/>
              </a:ext>
            </a:extLst>
          </p:cNvPr>
          <p:cNvSpPr/>
          <p:nvPr/>
        </p:nvSpPr>
        <p:spPr>
          <a:xfrm>
            <a:off x="6740760" y="2627886"/>
            <a:ext cx="1905031" cy="548640"/>
          </a:xfrm>
          <a:prstGeom prst="roundRect">
            <a:avLst/>
          </a:prstGeom>
          <a:ln>
            <a:solidFill>
              <a:srgbClr val="0070C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ocp-viewer-core</a:t>
            </a:r>
            <a:br>
              <a:rPr kumimoji="0" lang="de-DE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de-DE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(1.1.2)</a:t>
            </a:r>
            <a:endParaRPr lang="en-DE" sz="16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cxnSp>
        <p:nvCxnSpPr>
          <p:cNvPr id="452" name="Straight Connector 451">
            <a:extLst>
              <a:ext uri="{FF2B5EF4-FFF2-40B4-BE49-F238E27FC236}">
                <a16:creationId xmlns:a16="http://schemas.microsoft.com/office/drawing/2014/main" id="{9812083B-8605-4C81-281A-A8BF2B837227}"/>
              </a:ext>
            </a:extLst>
          </p:cNvPr>
          <p:cNvCxnSpPr>
            <a:cxnSpLocks/>
          </p:cNvCxnSpPr>
          <p:nvPr/>
        </p:nvCxnSpPr>
        <p:spPr>
          <a:xfrm>
            <a:off x="1440908" y="3774004"/>
            <a:ext cx="10609130" cy="0"/>
          </a:xfrm>
          <a:prstGeom prst="line">
            <a:avLst/>
          </a:prstGeom>
          <a:ln w="9525">
            <a:solidFill>
              <a:srgbClr val="FF0000">
                <a:alpha val="49833"/>
              </a:srgbClr>
            </a:solidFill>
            <a:prstDash val="dash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9D81971B-411F-AFEB-07B5-DD427976D30F}"/>
              </a:ext>
            </a:extLst>
          </p:cNvPr>
          <p:cNvSpPr/>
          <p:nvPr/>
        </p:nvSpPr>
        <p:spPr>
          <a:xfrm>
            <a:off x="3526534" y="866280"/>
            <a:ext cx="1905031" cy="548640"/>
          </a:xfrm>
          <a:prstGeom prst="round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ocp_viewer</a:t>
            </a:r>
            <a:br>
              <a:rPr lang="de-DE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</a:br>
            <a:r>
              <a:rPr lang="de-DE" sz="1000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(1.2.0)</a:t>
            </a:r>
            <a:endParaRPr lang="en-DE" sz="10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56A85186-1323-F091-9FF5-A9ED9E8E1208}"/>
              </a:ext>
            </a:extLst>
          </p:cNvPr>
          <p:cNvSpPr/>
          <p:nvPr/>
        </p:nvSpPr>
        <p:spPr>
          <a:xfrm>
            <a:off x="9932617" y="866280"/>
            <a:ext cx="1905031" cy="548640"/>
          </a:xfrm>
          <a:prstGeom prst="roundRect">
            <a:avLst/>
          </a:prstGeom>
          <a:solidFill>
            <a:schemeClr val="bg1"/>
          </a:solidFill>
          <a:ln>
            <a:solidFill>
              <a:schemeClr val="accent6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jupyter_cadquery</a:t>
            </a:r>
            <a:br>
              <a:rPr kumimoji="0" lang="de-DE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de-DE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(5.2.0)</a:t>
            </a:r>
            <a:endParaRPr lang="en-DE" sz="16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6DD82823-8510-F290-CF58-BA4E2486502D}"/>
              </a:ext>
            </a:extLst>
          </p:cNvPr>
          <p:cNvSpPr/>
          <p:nvPr/>
        </p:nvSpPr>
        <p:spPr>
          <a:xfrm>
            <a:off x="9932617" y="2627885"/>
            <a:ext cx="1905031" cy="548640"/>
          </a:xfrm>
          <a:prstGeom prst="roundRect">
            <a:avLst/>
          </a:prstGeom>
          <a:ln>
            <a:solidFill>
              <a:schemeClr val="accent6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cad_viewer_widget</a:t>
            </a:r>
            <a:br>
              <a:rPr kumimoji="0" lang="de-DE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de-DE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(4.2.0)</a:t>
            </a:r>
            <a:endParaRPr lang="en-DE" sz="16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378AC0AE-B831-0B9B-4FA4-EC8E81B2E1FE}"/>
              </a:ext>
            </a:extLst>
          </p:cNvPr>
          <p:cNvSpPr/>
          <p:nvPr/>
        </p:nvSpPr>
        <p:spPr>
          <a:xfrm>
            <a:off x="5651722" y="866280"/>
            <a:ext cx="1905031" cy="548640"/>
          </a:xfrm>
          <a:prstGeom prst="roundRect">
            <a:avLst/>
          </a:prstGeom>
          <a:solidFill>
            <a:schemeClr val="bg1"/>
          </a:solidFill>
          <a:ln>
            <a:solidFill>
              <a:schemeClr val="accent2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ocp_vscode</a:t>
            </a:r>
            <a:br>
              <a:rPr kumimoji="0" lang="de-DE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de-DE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(4.2.0)</a:t>
            </a:r>
            <a:endParaRPr lang="en-DE" sz="16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B75C7149-0CE4-331D-0F86-5C908FCA7D0C}"/>
              </a:ext>
            </a:extLst>
          </p:cNvPr>
          <p:cNvSpPr/>
          <p:nvPr/>
        </p:nvSpPr>
        <p:spPr>
          <a:xfrm>
            <a:off x="7792170" y="866280"/>
            <a:ext cx="1905031" cy="548640"/>
          </a:xfrm>
          <a:prstGeom prst="roundRect">
            <a:avLst/>
          </a:prstGeom>
          <a:solidFill>
            <a:schemeClr val="bg1"/>
          </a:solidFill>
          <a:ln>
            <a:solidFill>
              <a:schemeClr val="accent4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build123d_studio</a:t>
            </a:r>
            <a:br>
              <a:rPr kumimoji="0" lang="de-DE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de-DE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(0.9.0)</a:t>
            </a:r>
            <a:endParaRPr lang="en-DE" sz="16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5F026C42-C547-E2E0-5355-B4F4CCBCB67A}"/>
              </a:ext>
            </a:extLst>
          </p:cNvPr>
          <p:cNvSpPr/>
          <p:nvPr/>
        </p:nvSpPr>
        <p:spPr>
          <a:xfrm>
            <a:off x="1501473" y="2628529"/>
            <a:ext cx="1905031" cy="548640"/>
          </a:xfrm>
          <a:prstGeom prst="roundRect">
            <a:avLst/>
          </a:prstGeom>
          <a:ln>
            <a:solidFill>
              <a:srgbClr val="0070C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ocp-tessellate</a:t>
            </a:r>
            <a:br>
              <a:rPr kumimoji="0" lang="de-DE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de-DE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(3.6.2)</a:t>
            </a:r>
            <a:endParaRPr lang="en-DE" sz="16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3B129C09-88C7-9348-AF88-96B94BC8BE4B}"/>
              </a:ext>
            </a:extLst>
          </p:cNvPr>
          <p:cNvCxnSpPr>
            <a:cxnSpLocks/>
            <a:stCxn id="10" idx="3"/>
            <a:endCxn id="9" idx="1"/>
          </p:cNvCxnSpPr>
          <p:nvPr/>
        </p:nvCxnSpPr>
        <p:spPr>
          <a:xfrm flipV="1">
            <a:off x="3406504" y="2902206"/>
            <a:ext cx="3334256" cy="643"/>
          </a:xfrm>
          <a:prstGeom prst="line">
            <a:avLst/>
          </a:prstGeom>
          <a:ln w="12700">
            <a:solidFill>
              <a:schemeClr val="tx1"/>
            </a:solidFill>
            <a:head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EBAE65B4-36C3-7961-A286-2C13173A259E}"/>
              </a:ext>
            </a:extLst>
          </p:cNvPr>
          <p:cNvCxnSpPr>
            <a:cxnSpLocks/>
            <a:stCxn id="302" idx="4"/>
            <a:endCxn id="9" idx="0"/>
          </p:cNvCxnSpPr>
          <p:nvPr/>
        </p:nvCxnSpPr>
        <p:spPr>
          <a:xfrm rot="16200000" flipH="1">
            <a:off x="5702421" y="637030"/>
            <a:ext cx="764863" cy="3216848"/>
          </a:xfrm>
          <a:prstGeom prst="curvedConnector3">
            <a:avLst/>
          </a:prstGeom>
          <a:ln w="12700">
            <a:solidFill>
              <a:schemeClr val="accent5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E0F0ED15-D023-2B74-5A6D-862A78D73448}"/>
              </a:ext>
            </a:extLst>
          </p:cNvPr>
          <p:cNvCxnSpPr>
            <a:cxnSpLocks/>
            <a:stCxn id="303" idx="4"/>
            <a:endCxn id="9" idx="0"/>
          </p:cNvCxnSpPr>
          <p:nvPr/>
        </p:nvCxnSpPr>
        <p:spPr>
          <a:xfrm rot="16200000" flipH="1">
            <a:off x="6765705" y="1700314"/>
            <a:ext cx="764863" cy="1090280"/>
          </a:xfrm>
          <a:prstGeom prst="curvedConnector3">
            <a:avLst/>
          </a:prstGeom>
          <a:ln w="12700">
            <a:solidFill>
              <a:schemeClr val="accent5"/>
            </a:solidFill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FE9D0BC4-2F0C-25A5-EE86-330F39A4680D}"/>
              </a:ext>
            </a:extLst>
          </p:cNvPr>
          <p:cNvCxnSpPr>
            <a:cxnSpLocks/>
            <a:stCxn id="304" idx="4"/>
            <a:endCxn id="9" idx="0"/>
          </p:cNvCxnSpPr>
          <p:nvPr/>
        </p:nvCxnSpPr>
        <p:spPr>
          <a:xfrm rot="5400000">
            <a:off x="7836550" y="1719750"/>
            <a:ext cx="764863" cy="1051409"/>
          </a:xfrm>
          <a:prstGeom prst="curvedConnector3">
            <a:avLst/>
          </a:prstGeom>
          <a:ln w="12700">
            <a:solidFill>
              <a:schemeClr val="accent5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2F381279-4E5C-DC51-5F0C-43AE26E23953}"/>
              </a:ext>
            </a:extLst>
          </p:cNvPr>
          <p:cNvCxnSpPr>
            <a:cxnSpLocks/>
            <a:stCxn id="301" idx="4"/>
            <a:endCxn id="508" idx="0"/>
          </p:cNvCxnSpPr>
          <p:nvPr/>
        </p:nvCxnSpPr>
        <p:spPr>
          <a:xfrm rot="5400000">
            <a:off x="8761342" y="1135265"/>
            <a:ext cx="782155" cy="2203087"/>
          </a:xfrm>
          <a:prstGeom prst="curvedConnector3">
            <a:avLst/>
          </a:prstGeom>
          <a:ln w="12700">
            <a:solidFill>
              <a:schemeClr val="accent6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5" name="Rounded Rectangle 104">
            <a:extLst>
              <a:ext uri="{FF2B5EF4-FFF2-40B4-BE49-F238E27FC236}">
                <a16:creationId xmlns:a16="http://schemas.microsoft.com/office/drawing/2014/main" id="{2FA8CC70-CE8A-A1BA-135C-5523D879FC1A}"/>
              </a:ext>
            </a:extLst>
          </p:cNvPr>
          <p:cNvSpPr/>
          <p:nvPr/>
        </p:nvSpPr>
        <p:spPr>
          <a:xfrm>
            <a:off x="6740760" y="5677074"/>
            <a:ext cx="1905031" cy="548640"/>
          </a:xfrm>
          <a:prstGeom prst="roundRect">
            <a:avLst/>
          </a:prstGeom>
          <a:ln>
            <a:solidFill>
              <a:srgbClr val="0070C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three-cad-viewer</a:t>
            </a:r>
            <a:br>
              <a:rPr kumimoji="0" lang="de-DE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de-DE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(5.1.3)</a:t>
            </a:r>
            <a:endParaRPr lang="en-DE" sz="10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cxnSp>
        <p:nvCxnSpPr>
          <p:cNvPr id="106" name="Straight Connector 105">
            <a:extLst>
              <a:ext uri="{FF2B5EF4-FFF2-40B4-BE49-F238E27FC236}">
                <a16:creationId xmlns:a16="http://schemas.microsoft.com/office/drawing/2014/main" id="{AB4655EC-2CD5-E655-D93E-059FDAB0A0B4}"/>
              </a:ext>
            </a:extLst>
          </p:cNvPr>
          <p:cNvCxnSpPr>
            <a:cxnSpLocks/>
            <a:stCxn id="105" idx="0"/>
            <a:endCxn id="111" idx="2"/>
          </p:cNvCxnSpPr>
          <p:nvPr/>
        </p:nvCxnSpPr>
        <p:spPr>
          <a:xfrm flipV="1">
            <a:off x="7693276" y="5038408"/>
            <a:ext cx="0" cy="638666"/>
          </a:xfrm>
          <a:prstGeom prst="line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1" name="Rounded Rectangle 110">
            <a:extLst>
              <a:ext uri="{FF2B5EF4-FFF2-40B4-BE49-F238E27FC236}">
                <a16:creationId xmlns:a16="http://schemas.microsoft.com/office/drawing/2014/main" id="{4E0B4DB7-6853-C2A6-FA9A-A8F391EB440E}"/>
              </a:ext>
            </a:extLst>
          </p:cNvPr>
          <p:cNvSpPr/>
          <p:nvPr/>
        </p:nvSpPr>
        <p:spPr>
          <a:xfrm>
            <a:off x="6740760" y="4489768"/>
            <a:ext cx="1905031" cy="548640"/>
          </a:xfrm>
          <a:prstGeom prst="roundRect">
            <a:avLst/>
          </a:prstGeom>
          <a:ln>
            <a:solidFill>
              <a:srgbClr val="0070C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ocp-viewer-core</a:t>
            </a:r>
            <a:br>
              <a:rPr kumimoji="0" lang="de-DE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de-DE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(1.1.0)</a:t>
            </a:r>
            <a:endParaRPr lang="en-DE" sz="16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cxnSp>
        <p:nvCxnSpPr>
          <p:cNvPr id="134" name="Straight Connector 133">
            <a:extLst>
              <a:ext uri="{FF2B5EF4-FFF2-40B4-BE49-F238E27FC236}">
                <a16:creationId xmlns:a16="http://schemas.microsoft.com/office/drawing/2014/main" id="{152DA041-38D5-F445-2CB0-95102A8E2182}"/>
              </a:ext>
            </a:extLst>
          </p:cNvPr>
          <p:cNvCxnSpPr>
            <a:cxnSpLocks/>
            <a:stCxn id="110" idx="4"/>
            <a:endCxn id="111" idx="0"/>
          </p:cNvCxnSpPr>
          <p:nvPr/>
        </p:nvCxnSpPr>
        <p:spPr>
          <a:xfrm rot="16200000" flipH="1">
            <a:off x="7391401" y="4187892"/>
            <a:ext cx="601005" cy="2745"/>
          </a:xfrm>
          <a:prstGeom prst="curvedConnector3">
            <a:avLst>
              <a:gd name="adj1" fmla="val 50000"/>
            </a:avLst>
          </a:prstGeom>
          <a:ln w="12700">
            <a:solidFill>
              <a:schemeClr val="accent5"/>
            </a:solidFill>
            <a:prstDash val="solid"/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5" name="Rectangle 194">
            <a:extLst>
              <a:ext uri="{FF2B5EF4-FFF2-40B4-BE49-F238E27FC236}">
                <a16:creationId xmlns:a16="http://schemas.microsoft.com/office/drawing/2014/main" id="{D90AF4D4-5186-D0D0-8213-9DFE6E255A8B}"/>
              </a:ext>
            </a:extLst>
          </p:cNvPr>
          <p:cNvSpPr/>
          <p:nvPr/>
        </p:nvSpPr>
        <p:spPr>
          <a:xfrm>
            <a:off x="5651723" y="305393"/>
            <a:ext cx="1905030" cy="35561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VS Code</a:t>
            </a:r>
          </a:p>
        </p:txBody>
      </p:sp>
      <p:sp>
        <p:nvSpPr>
          <p:cNvPr id="196" name="Rectangle 195">
            <a:extLst>
              <a:ext uri="{FF2B5EF4-FFF2-40B4-BE49-F238E27FC236}">
                <a16:creationId xmlns:a16="http://schemas.microsoft.com/office/drawing/2014/main" id="{3568631C-1E80-C2F2-A811-E99BC4D06942}"/>
              </a:ext>
            </a:extLst>
          </p:cNvPr>
          <p:cNvSpPr/>
          <p:nvPr/>
        </p:nvSpPr>
        <p:spPr>
          <a:xfrm>
            <a:off x="3511275" y="305393"/>
            <a:ext cx="1905031" cy="35561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Standalone</a:t>
            </a:r>
            <a:endParaRPr lang="en-DE" sz="1600" dirty="0">
              <a:solidFill>
                <a:schemeClr val="bg1"/>
              </a:solidFill>
            </a:endParaRPr>
          </a:p>
        </p:txBody>
      </p:sp>
      <p:sp>
        <p:nvSpPr>
          <p:cNvPr id="197" name="Rectangle 196">
            <a:extLst>
              <a:ext uri="{FF2B5EF4-FFF2-40B4-BE49-F238E27FC236}">
                <a16:creationId xmlns:a16="http://schemas.microsoft.com/office/drawing/2014/main" id="{D6570E0B-3B09-A55A-321C-E5337DD9382E}"/>
              </a:ext>
            </a:extLst>
          </p:cNvPr>
          <p:cNvSpPr/>
          <p:nvPr/>
        </p:nvSpPr>
        <p:spPr>
          <a:xfrm>
            <a:off x="9932617" y="305393"/>
            <a:ext cx="1905031" cy="355612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Jupyter Lab</a:t>
            </a:r>
            <a:endParaRPr lang="en-DE" sz="1600" dirty="0">
              <a:solidFill>
                <a:schemeClr val="bg1"/>
              </a:solidFill>
            </a:endParaRPr>
          </a:p>
        </p:txBody>
      </p:sp>
      <p:sp>
        <p:nvSpPr>
          <p:cNvPr id="198" name="Rectangle 197">
            <a:extLst>
              <a:ext uri="{FF2B5EF4-FFF2-40B4-BE49-F238E27FC236}">
                <a16:creationId xmlns:a16="http://schemas.microsoft.com/office/drawing/2014/main" id="{DDE91FCB-8843-6E99-8508-CA2619F4480D}"/>
              </a:ext>
            </a:extLst>
          </p:cNvPr>
          <p:cNvSpPr/>
          <p:nvPr/>
        </p:nvSpPr>
        <p:spPr>
          <a:xfrm>
            <a:off x="7792170" y="305393"/>
            <a:ext cx="1905031" cy="35561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Neutralinojs</a:t>
            </a:r>
            <a:endParaRPr lang="en-DE" sz="1600" dirty="0">
              <a:solidFill>
                <a:schemeClr val="bg1"/>
              </a:solidFill>
            </a:endParaRPr>
          </a:p>
        </p:txBody>
      </p:sp>
      <p:cxnSp>
        <p:nvCxnSpPr>
          <p:cNvPr id="253" name="Straight Connector 34">
            <a:extLst>
              <a:ext uri="{FF2B5EF4-FFF2-40B4-BE49-F238E27FC236}">
                <a16:creationId xmlns:a16="http://schemas.microsoft.com/office/drawing/2014/main" id="{E52B28F3-B6E0-EE67-8248-969DA6404731}"/>
              </a:ext>
            </a:extLst>
          </p:cNvPr>
          <p:cNvCxnSpPr>
            <a:cxnSpLocks/>
            <a:stCxn id="6" idx="2"/>
            <a:endCxn id="7" idx="0"/>
          </p:cNvCxnSpPr>
          <p:nvPr/>
        </p:nvCxnSpPr>
        <p:spPr>
          <a:xfrm>
            <a:off x="10885133" y="1414920"/>
            <a:ext cx="0" cy="1212965"/>
          </a:xfrm>
          <a:prstGeom prst="straightConnector1">
            <a:avLst/>
          </a:prstGeom>
          <a:ln w="12700">
            <a:solidFill>
              <a:schemeClr val="accent6"/>
            </a:solidFill>
            <a:prstDash val="solid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3" name="Rounded Rectangle 262">
            <a:extLst>
              <a:ext uri="{FF2B5EF4-FFF2-40B4-BE49-F238E27FC236}">
                <a16:creationId xmlns:a16="http://schemas.microsoft.com/office/drawing/2014/main" id="{2359E289-234D-6F78-E414-9710414101CE}"/>
              </a:ext>
            </a:extLst>
          </p:cNvPr>
          <p:cNvSpPr/>
          <p:nvPr/>
        </p:nvSpPr>
        <p:spPr>
          <a:xfrm>
            <a:off x="1391704" y="4152357"/>
            <a:ext cx="2374815" cy="293802"/>
          </a:xfrm>
          <a:prstGeom prst="roundRect">
            <a:avLst/>
          </a:prstGeom>
          <a:ln w="19050">
            <a:solidFill>
              <a:schemeClr val="accent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180000" tIns="0" rIns="36000" bIns="0" rtlCol="0" anchor="ctr"/>
          <a:lstStyle/>
          <a:p>
            <a:r>
              <a:rPr lang="de-DE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Web Page</a:t>
            </a:r>
            <a:endParaRPr lang="en-DE" sz="16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264" name="Rounded Rectangle 263">
            <a:extLst>
              <a:ext uri="{FF2B5EF4-FFF2-40B4-BE49-F238E27FC236}">
                <a16:creationId xmlns:a16="http://schemas.microsoft.com/office/drawing/2014/main" id="{22D808B4-29FE-E767-30BC-194A45BDFA95}"/>
              </a:ext>
            </a:extLst>
          </p:cNvPr>
          <p:cNvSpPr/>
          <p:nvPr/>
        </p:nvSpPr>
        <p:spPr>
          <a:xfrm>
            <a:off x="1391704" y="4617187"/>
            <a:ext cx="1212899" cy="293802"/>
          </a:xfrm>
          <a:prstGeom prst="roundRect">
            <a:avLst/>
          </a:prstGeom>
          <a:ln w="19050">
            <a:solidFill>
              <a:schemeClr val="accent2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180000" tIns="0" rIns="36000" bIns="0" rtlCol="0" anchor="ctr"/>
          <a:lstStyle/>
          <a:p>
            <a:r>
              <a:rPr lang="de-DE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Extension</a:t>
            </a:r>
            <a:endParaRPr lang="en-DE" sz="16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265" name="Rounded Rectangle 264">
            <a:extLst>
              <a:ext uri="{FF2B5EF4-FFF2-40B4-BE49-F238E27FC236}">
                <a16:creationId xmlns:a16="http://schemas.microsoft.com/office/drawing/2014/main" id="{9814CD18-442F-A22B-8A9F-7040438C3C2E}"/>
              </a:ext>
            </a:extLst>
          </p:cNvPr>
          <p:cNvSpPr/>
          <p:nvPr/>
        </p:nvSpPr>
        <p:spPr>
          <a:xfrm>
            <a:off x="1391704" y="5088223"/>
            <a:ext cx="2374815" cy="293802"/>
          </a:xfrm>
          <a:prstGeom prst="roundRect">
            <a:avLst/>
          </a:prstGeom>
          <a:ln w="19050">
            <a:solidFill>
              <a:schemeClr val="accent4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180000" tIns="0" rIns="36000" bIns="0" rtlCol="0" anchor="ctr"/>
          <a:lstStyle/>
          <a:p>
            <a:r>
              <a:rPr lang="de-DE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Application</a:t>
            </a:r>
            <a:endParaRPr lang="en-DE" sz="16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cxnSp>
        <p:nvCxnSpPr>
          <p:cNvPr id="267" name="Straight Connector 31">
            <a:extLst>
              <a:ext uri="{FF2B5EF4-FFF2-40B4-BE49-F238E27FC236}">
                <a16:creationId xmlns:a16="http://schemas.microsoft.com/office/drawing/2014/main" id="{CACD783F-D9C3-B487-1184-3D8A0BAFD95A}"/>
              </a:ext>
            </a:extLst>
          </p:cNvPr>
          <p:cNvCxnSpPr>
            <a:cxnSpLocks/>
            <a:stCxn id="111" idx="1"/>
            <a:endCxn id="263" idx="3"/>
          </p:cNvCxnSpPr>
          <p:nvPr/>
        </p:nvCxnSpPr>
        <p:spPr>
          <a:xfrm rot="10800000">
            <a:off x="3766520" y="4299258"/>
            <a:ext cx="2974241" cy="464830"/>
          </a:xfrm>
          <a:prstGeom prst="curvedConnector3">
            <a:avLst>
              <a:gd name="adj1" fmla="val 50000"/>
            </a:avLst>
          </a:prstGeom>
          <a:ln w="12700">
            <a:solidFill>
              <a:schemeClr val="accent5"/>
            </a:solidFill>
            <a:headEnd type="triangle"/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0" name="Straight Connector 31">
            <a:extLst>
              <a:ext uri="{FF2B5EF4-FFF2-40B4-BE49-F238E27FC236}">
                <a16:creationId xmlns:a16="http://schemas.microsoft.com/office/drawing/2014/main" id="{F711ABDB-0001-4181-381B-05FDBD754CA2}"/>
              </a:ext>
            </a:extLst>
          </p:cNvPr>
          <p:cNvCxnSpPr>
            <a:cxnSpLocks/>
            <a:stCxn id="111" idx="1"/>
            <a:endCxn id="522" idx="3"/>
          </p:cNvCxnSpPr>
          <p:nvPr/>
        </p:nvCxnSpPr>
        <p:spPr>
          <a:xfrm flipH="1">
            <a:off x="3768402" y="4764088"/>
            <a:ext cx="2972358" cy="0"/>
          </a:xfrm>
          <a:prstGeom prst="straightConnector1">
            <a:avLst/>
          </a:prstGeom>
          <a:ln w="12700">
            <a:solidFill>
              <a:schemeClr val="accent5"/>
            </a:solidFill>
            <a:headEnd type="triangle"/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3" name="Straight Connector 31">
            <a:extLst>
              <a:ext uri="{FF2B5EF4-FFF2-40B4-BE49-F238E27FC236}">
                <a16:creationId xmlns:a16="http://schemas.microsoft.com/office/drawing/2014/main" id="{A5836AD9-46AD-25C6-50E6-8CAB6B380F8F}"/>
              </a:ext>
            </a:extLst>
          </p:cNvPr>
          <p:cNvCxnSpPr>
            <a:cxnSpLocks/>
            <a:stCxn id="111" idx="1"/>
            <a:endCxn id="265" idx="3"/>
          </p:cNvCxnSpPr>
          <p:nvPr/>
        </p:nvCxnSpPr>
        <p:spPr>
          <a:xfrm rot="10800000" flipV="1">
            <a:off x="3766520" y="4764088"/>
            <a:ext cx="2974241" cy="471036"/>
          </a:xfrm>
          <a:prstGeom prst="curvedConnector3">
            <a:avLst/>
          </a:prstGeom>
          <a:ln w="12700">
            <a:solidFill>
              <a:schemeClr val="accent5"/>
            </a:solidFill>
            <a:headEnd type="triangle"/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01" name="Oval 300">
            <a:extLst>
              <a:ext uri="{FF2B5EF4-FFF2-40B4-BE49-F238E27FC236}">
                <a16:creationId xmlns:a16="http://schemas.microsoft.com/office/drawing/2014/main" id="{DF4F24FD-793F-1A2D-4F89-8E6717831ADE}"/>
              </a:ext>
            </a:extLst>
          </p:cNvPr>
          <p:cNvSpPr/>
          <p:nvPr/>
        </p:nvSpPr>
        <p:spPr>
          <a:xfrm>
            <a:off x="9765462" y="1588153"/>
            <a:ext cx="977000" cy="257578"/>
          </a:xfrm>
          <a:prstGeom prst="ellipse">
            <a:avLst/>
          </a:prstGeom>
          <a:noFill/>
          <a:ln w="12700">
            <a:solidFill>
              <a:schemeClr val="accent6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sz="1000" dirty="0">
                <a:solidFill>
                  <a:schemeClr val="accent6"/>
                </a:solidFill>
              </a:rPr>
              <a:t>JupyterComms</a:t>
            </a:r>
          </a:p>
        </p:txBody>
      </p:sp>
      <p:sp>
        <p:nvSpPr>
          <p:cNvPr id="302" name="Oval 301">
            <a:extLst>
              <a:ext uri="{FF2B5EF4-FFF2-40B4-BE49-F238E27FC236}">
                <a16:creationId xmlns:a16="http://schemas.microsoft.com/office/drawing/2014/main" id="{49C6587F-A304-5E1E-E9B9-C3C26F56F896}"/>
              </a:ext>
            </a:extLst>
          </p:cNvPr>
          <p:cNvSpPr/>
          <p:nvPr/>
        </p:nvSpPr>
        <p:spPr>
          <a:xfrm>
            <a:off x="3816475" y="1605445"/>
            <a:ext cx="1319906" cy="257578"/>
          </a:xfrm>
          <a:prstGeom prst="ellipse">
            <a:avLst/>
          </a:prstGeom>
          <a:ln w="12700">
            <a:solidFill>
              <a:schemeClr val="accent5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sz="1000" dirty="0">
                <a:solidFill>
                  <a:schemeClr val="accent5"/>
                </a:solidFill>
              </a:rPr>
              <a:t>StandaloneComms</a:t>
            </a:r>
          </a:p>
        </p:txBody>
      </p:sp>
      <p:sp>
        <p:nvSpPr>
          <p:cNvPr id="303" name="Oval 302">
            <a:extLst>
              <a:ext uri="{FF2B5EF4-FFF2-40B4-BE49-F238E27FC236}">
                <a16:creationId xmlns:a16="http://schemas.microsoft.com/office/drawing/2014/main" id="{E62FBEBE-EBA2-D1A2-88FA-E36E4D680845}"/>
              </a:ext>
            </a:extLst>
          </p:cNvPr>
          <p:cNvSpPr/>
          <p:nvPr/>
        </p:nvSpPr>
        <p:spPr>
          <a:xfrm>
            <a:off x="6088896" y="1605445"/>
            <a:ext cx="1028200" cy="257578"/>
          </a:xfrm>
          <a:prstGeom prst="ellipse">
            <a:avLst/>
          </a:prstGeom>
          <a:ln w="12700">
            <a:solidFill>
              <a:schemeClr val="accent5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sz="1000" dirty="0">
                <a:solidFill>
                  <a:schemeClr val="accent5"/>
                </a:solidFill>
              </a:rPr>
              <a:t>VSCodeComms</a:t>
            </a:r>
          </a:p>
        </p:txBody>
      </p:sp>
      <p:sp>
        <p:nvSpPr>
          <p:cNvPr id="304" name="Oval 303">
            <a:extLst>
              <a:ext uri="{FF2B5EF4-FFF2-40B4-BE49-F238E27FC236}">
                <a16:creationId xmlns:a16="http://schemas.microsoft.com/office/drawing/2014/main" id="{C28EE09B-C304-4ECD-8758-3DEFE97510AA}"/>
              </a:ext>
            </a:extLst>
          </p:cNvPr>
          <p:cNvSpPr/>
          <p:nvPr/>
        </p:nvSpPr>
        <p:spPr>
          <a:xfrm>
            <a:off x="8264042" y="1605445"/>
            <a:ext cx="961286" cy="257578"/>
          </a:xfrm>
          <a:prstGeom prst="ellipse">
            <a:avLst/>
          </a:prstGeom>
          <a:ln w="12700">
            <a:solidFill>
              <a:schemeClr val="accent5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sz="1000" dirty="0">
                <a:solidFill>
                  <a:schemeClr val="accent5"/>
                </a:solidFill>
              </a:rPr>
              <a:t>StudioComms</a:t>
            </a:r>
          </a:p>
        </p:txBody>
      </p:sp>
      <p:sp>
        <p:nvSpPr>
          <p:cNvPr id="110" name="Oval 109">
            <a:extLst>
              <a:ext uri="{FF2B5EF4-FFF2-40B4-BE49-F238E27FC236}">
                <a16:creationId xmlns:a16="http://schemas.microsoft.com/office/drawing/2014/main" id="{C6DA4E18-1B2A-F13D-0C5B-117882D612DC}"/>
              </a:ext>
            </a:extLst>
          </p:cNvPr>
          <p:cNvSpPr/>
          <p:nvPr/>
        </p:nvSpPr>
        <p:spPr>
          <a:xfrm>
            <a:off x="7300947" y="3631185"/>
            <a:ext cx="779167" cy="257578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accent5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en-US" sz="1000" dirty="0">
                <a:solidFill>
                  <a:schemeClr val="accent5"/>
                </a:solidFill>
              </a:rPr>
              <a:t>*Comms</a:t>
            </a:r>
          </a:p>
        </p:txBody>
      </p:sp>
      <p:cxnSp>
        <p:nvCxnSpPr>
          <p:cNvPr id="313" name="Straight Connector 312">
            <a:extLst>
              <a:ext uri="{FF2B5EF4-FFF2-40B4-BE49-F238E27FC236}">
                <a16:creationId xmlns:a16="http://schemas.microsoft.com/office/drawing/2014/main" id="{BDCB058F-03BD-0D50-BA0B-4CCDAA51B637}"/>
              </a:ext>
            </a:extLst>
          </p:cNvPr>
          <p:cNvCxnSpPr>
            <a:cxnSpLocks/>
            <a:stCxn id="464" idx="1"/>
            <a:endCxn id="111" idx="3"/>
          </p:cNvCxnSpPr>
          <p:nvPr/>
        </p:nvCxnSpPr>
        <p:spPr>
          <a:xfrm flipH="1">
            <a:off x="8645791" y="4764088"/>
            <a:ext cx="1286826" cy="0"/>
          </a:xfrm>
          <a:prstGeom prst="straightConnector1">
            <a:avLst/>
          </a:prstGeom>
          <a:ln w="12700">
            <a:solidFill>
              <a:schemeClr val="accent6"/>
            </a:solidFill>
            <a:prstDash val="solid"/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9" name="TextBox 458">
            <a:extLst>
              <a:ext uri="{FF2B5EF4-FFF2-40B4-BE49-F238E27FC236}">
                <a16:creationId xmlns:a16="http://schemas.microsoft.com/office/drawing/2014/main" id="{CD4638EA-7F07-EE82-96A6-CD4F20D08691}"/>
              </a:ext>
            </a:extLst>
          </p:cNvPr>
          <p:cNvSpPr txBox="1"/>
          <p:nvPr/>
        </p:nvSpPr>
        <p:spPr>
          <a:xfrm>
            <a:off x="1094557" y="3490992"/>
            <a:ext cx="1435541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i="1" dirty="0">
                <a:solidFill>
                  <a:srgbClr val="FF0000"/>
                </a:solidFill>
              </a:rPr>
              <a:t>Python</a:t>
            </a:r>
          </a:p>
          <a:p>
            <a:pPr algn="ctr"/>
            <a:endParaRPr lang="en-US" sz="1000" i="1" dirty="0">
              <a:solidFill>
                <a:srgbClr val="FF0000"/>
              </a:solidFill>
            </a:endParaRPr>
          </a:p>
          <a:p>
            <a:pPr algn="ctr"/>
            <a:r>
              <a:rPr lang="en-US" sz="1000" i="1" dirty="0">
                <a:solidFill>
                  <a:srgbClr val="FF0000"/>
                </a:solidFill>
              </a:rPr>
              <a:t>JavaScript</a:t>
            </a:r>
          </a:p>
        </p:txBody>
      </p:sp>
      <p:sp>
        <p:nvSpPr>
          <p:cNvPr id="464" name="Rounded Rectangle 463">
            <a:extLst>
              <a:ext uri="{FF2B5EF4-FFF2-40B4-BE49-F238E27FC236}">
                <a16:creationId xmlns:a16="http://schemas.microsoft.com/office/drawing/2014/main" id="{1014527B-EF73-B622-9052-564249392725}"/>
              </a:ext>
            </a:extLst>
          </p:cNvPr>
          <p:cNvSpPr/>
          <p:nvPr/>
        </p:nvSpPr>
        <p:spPr>
          <a:xfrm>
            <a:off x="9932617" y="4489768"/>
            <a:ext cx="1905031" cy="548640"/>
          </a:xfrm>
          <a:prstGeom prst="roundRect">
            <a:avLst/>
          </a:prstGeom>
          <a:ln>
            <a:solidFill>
              <a:schemeClr val="accent6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cad_viewer_widget</a:t>
            </a:r>
            <a:br>
              <a:rPr kumimoji="0" lang="de-DE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de-DE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(4.2.0)</a:t>
            </a:r>
            <a:endParaRPr lang="en-DE" sz="16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cxnSp>
        <p:nvCxnSpPr>
          <p:cNvPr id="468" name="Straight Connector 34">
            <a:extLst>
              <a:ext uri="{FF2B5EF4-FFF2-40B4-BE49-F238E27FC236}">
                <a16:creationId xmlns:a16="http://schemas.microsoft.com/office/drawing/2014/main" id="{D86A1CA0-4926-5186-0967-4A22C44E78B4}"/>
              </a:ext>
            </a:extLst>
          </p:cNvPr>
          <p:cNvCxnSpPr>
            <a:cxnSpLocks/>
            <a:stCxn id="7" idx="2"/>
            <a:endCxn id="464" idx="0"/>
          </p:cNvCxnSpPr>
          <p:nvPr/>
        </p:nvCxnSpPr>
        <p:spPr>
          <a:xfrm>
            <a:off x="10885133" y="3176525"/>
            <a:ext cx="0" cy="1313243"/>
          </a:xfrm>
          <a:prstGeom prst="straightConnector1">
            <a:avLst/>
          </a:prstGeom>
          <a:ln w="12700">
            <a:solidFill>
              <a:schemeClr val="accent6"/>
            </a:solidFill>
            <a:prstDash val="solid"/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2" name="Oval 311">
            <a:extLst>
              <a:ext uri="{FF2B5EF4-FFF2-40B4-BE49-F238E27FC236}">
                <a16:creationId xmlns:a16="http://schemas.microsoft.com/office/drawing/2014/main" id="{71EEE04B-32A3-F73B-3D86-78B516663694}"/>
              </a:ext>
            </a:extLst>
          </p:cNvPr>
          <p:cNvSpPr/>
          <p:nvPr/>
        </p:nvSpPr>
        <p:spPr>
          <a:xfrm>
            <a:off x="10521881" y="3636299"/>
            <a:ext cx="726504" cy="257578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accent6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en-US" sz="1000" dirty="0">
                <a:solidFill>
                  <a:schemeClr val="accent6"/>
                </a:solidFill>
              </a:rPr>
              <a:t>traitlets</a:t>
            </a:r>
          </a:p>
        </p:txBody>
      </p:sp>
      <p:sp>
        <p:nvSpPr>
          <p:cNvPr id="245" name="Rectangle 244">
            <a:extLst>
              <a:ext uri="{FF2B5EF4-FFF2-40B4-BE49-F238E27FC236}">
                <a16:creationId xmlns:a16="http://schemas.microsoft.com/office/drawing/2014/main" id="{1AA0B35D-FB3C-0887-BF78-1A188036CF0D}"/>
              </a:ext>
            </a:extLst>
          </p:cNvPr>
          <p:cNvSpPr/>
          <p:nvPr/>
        </p:nvSpPr>
        <p:spPr>
          <a:xfrm>
            <a:off x="230271" y="4153184"/>
            <a:ext cx="1266590" cy="292971"/>
          </a:xfrm>
          <a:prstGeom prst="rect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Standalone</a:t>
            </a:r>
            <a:endParaRPr lang="en-DE" sz="1600" dirty="0">
              <a:solidFill>
                <a:schemeClr val="bg1"/>
              </a:solidFill>
            </a:endParaRPr>
          </a:p>
        </p:txBody>
      </p:sp>
      <p:sp>
        <p:nvSpPr>
          <p:cNvPr id="247" name="Rectangle 246">
            <a:extLst>
              <a:ext uri="{FF2B5EF4-FFF2-40B4-BE49-F238E27FC236}">
                <a16:creationId xmlns:a16="http://schemas.microsoft.com/office/drawing/2014/main" id="{88120BA8-1FDB-4016-8B3A-50B45F27E8C2}"/>
              </a:ext>
            </a:extLst>
          </p:cNvPr>
          <p:cNvSpPr/>
          <p:nvPr/>
        </p:nvSpPr>
        <p:spPr>
          <a:xfrm>
            <a:off x="230271" y="4617186"/>
            <a:ext cx="1266590" cy="293804"/>
          </a:xfrm>
          <a:prstGeom prst="rect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VS Code</a:t>
            </a:r>
          </a:p>
        </p:txBody>
      </p:sp>
      <p:sp>
        <p:nvSpPr>
          <p:cNvPr id="248" name="Rectangle 247">
            <a:extLst>
              <a:ext uri="{FF2B5EF4-FFF2-40B4-BE49-F238E27FC236}">
                <a16:creationId xmlns:a16="http://schemas.microsoft.com/office/drawing/2014/main" id="{9AE6D8DA-539E-01E2-0FAE-92B3A9DEFBEA}"/>
              </a:ext>
            </a:extLst>
          </p:cNvPr>
          <p:cNvSpPr/>
          <p:nvPr/>
        </p:nvSpPr>
        <p:spPr>
          <a:xfrm>
            <a:off x="230271" y="5088221"/>
            <a:ext cx="1266590" cy="293803"/>
          </a:xfrm>
          <a:prstGeom prst="rect">
            <a:avLst/>
          </a:prstGeom>
          <a:solidFill>
            <a:schemeClr val="accent4"/>
          </a:solidFill>
          <a:ln>
            <a:solidFill>
              <a:schemeClr val="accent4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Neutralinojs</a:t>
            </a:r>
            <a:endParaRPr lang="en-DE" sz="1600" dirty="0">
              <a:solidFill>
                <a:schemeClr val="bg1"/>
              </a:solidFill>
            </a:endParaRPr>
          </a:p>
        </p:txBody>
      </p:sp>
      <p:sp>
        <p:nvSpPr>
          <p:cNvPr id="472" name="TextBox 471">
            <a:extLst>
              <a:ext uri="{FF2B5EF4-FFF2-40B4-BE49-F238E27FC236}">
                <a16:creationId xmlns:a16="http://schemas.microsoft.com/office/drawing/2014/main" id="{35307D79-7ACE-5096-C5F2-333FF3C16E5E}"/>
              </a:ext>
            </a:extLst>
          </p:cNvPr>
          <p:cNvSpPr txBox="1"/>
          <p:nvPr/>
        </p:nvSpPr>
        <p:spPr>
          <a:xfrm>
            <a:off x="8616116" y="2620368"/>
            <a:ext cx="134668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7313" indent="-87313">
              <a:buFont typeface="Arial" panose="020B0604020202020204" pitchFamily="34" charset="0"/>
              <a:buChar char="•"/>
            </a:pPr>
            <a:r>
              <a:rPr lang="en-US" sz="800" i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Viewer (show, ...)</a:t>
            </a:r>
          </a:p>
          <a:p>
            <a:pPr marL="87313" indent="-87313">
              <a:buFont typeface="Arial" panose="020B0604020202020204" pitchFamily="34" charset="0"/>
              <a:buChar char="•"/>
            </a:pPr>
            <a:r>
              <a:rPr lang="en-US" sz="800" i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Config (set_defaults, ...)</a:t>
            </a:r>
          </a:p>
          <a:p>
            <a:pPr marL="87313" indent="-87313">
              <a:buFont typeface="Arial" panose="020B0604020202020204" pitchFamily="34" charset="0"/>
              <a:buChar char="•"/>
            </a:pPr>
            <a:r>
              <a:rPr lang="en-US" sz="800" i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ViewerBackend (measurements)</a:t>
            </a:r>
          </a:p>
        </p:txBody>
      </p:sp>
      <p:grpSp>
        <p:nvGrpSpPr>
          <p:cNvPr id="476" name="Group 475">
            <a:extLst>
              <a:ext uri="{FF2B5EF4-FFF2-40B4-BE49-F238E27FC236}">
                <a16:creationId xmlns:a16="http://schemas.microsoft.com/office/drawing/2014/main" id="{8D925945-365A-69B7-E66C-903295CDBB1B}"/>
              </a:ext>
            </a:extLst>
          </p:cNvPr>
          <p:cNvGrpSpPr/>
          <p:nvPr/>
        </p:nvGrpSpPr>
        <p:grpSpPr>
          <a:xfrm>
            <a:off x="6648112" y="4439496"/>
            <a:ext cx="298480" cy="246221"/>
            <a:chOff x="2303589" y="1482334"/>
            <a:chExt cx="298480" cy="246221"/>
          </a:xfrm>
        </p:grpSpPr>
        <p:sp>
          <p:nvSpPr>
            <p:cNvPr id="473" name="Oval 472">
              <a:extLst>
                <a:ext uri="{FF2B5EF4-FFF2-40B4-BE49-F238E27FC236}">
                  <a16:creationId xmlns:a16="http://schemas.microsoft.com/office/drawing/2014/main" id="{13382ABD-6179-6F6D-C44A-AFFD0B22B93C}"/>
                </a:ext>
              </a:extLst>
            </p:cNvPr>
            <p:cNvSpPr/>
            <p:nvPr/>
          </p:nvSpPr>
          <p:spPr>
            <a:xfrm>
              <a:off x="2348639" y="1510162"/>
              <a:ext cx="201132" cy="190567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474" name="TextBox 473">
              <a:extLst>
                <a:ext uri="{FF2B5EF4-FFF2-40B4-BE49-F238E27FC236}">
                  <a16:creationId xmlns:a16="http://schemas.microsoft.com/office/drawing/2014/main" id="{C157129A-72E5-ED2A-7250-1A6E53B335B9}"/>
                </a:ext>
              </a:extLst>
            </p:cNvPr>
            <p:cNvSpPr txBox="1"/>
            <p:nvPr/>
          </p:nvSpPr>
          <p:spPr>
            <a:xfrm>
              <a:off x="2303589" y="1482334"/>
              <a:ext cx="298480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JS</a:t>
              </a:r>
            </a:p>
          </p:txBody>
        </p:sp>
      </p:grpSp>
      <p:grpSp>
        <p:nvGrpSpPr>
          <p:cNvPr id="475" name="Group 474">
            <a:extLst>
              <a:ext uri="{FF2B5EF4-FFF2-40B4-BE49-F238E27FC236}">
                <a16:creationId xmlns:a16="http://schemas.microsoft.com/office/drawing/2014/main" id="{3890472B-CE89-D6ED-BC1E-F399D344344C}"/>
              </a:ext>
            </a:extLst>
          </p:cNvPr>
          <p:cNvGrpSpPr/>
          <p:nvPr/>
        </p:nvGrpSpPr>
        <p:grpSpPr>
          <a:xfrm>
            <a:off x="3400345" y="821505"/>
            <a:ext cx="316112" cy="246221"/>
            <a:chOff x="1821555" y="1112772"/>
            <a:chExt cx="316112" cy="246221"/>
          </a:xfrm>
        </p:grpSpPr>
        <p:sp>
          <p:nvSpPr>
            <p:cNvPr id="412" name="Oval 411">
              <a:extLst>
                <a:ext uri="{FF2B5EF4-FFF2-40B4-BE49-F238E27FC236}">
                  <a16:creationId xmlns:a16="http://schemas.microsoft.com/office/drawing/2014/main" id="{5F414522-B508-6316-7114-B6D1397E2474}"/>
                </a:ext>
              </a:extLst>
            </p:cNvPr>
            <p:cNvSpPr/>
            <p:nvPr/>
          </p:nvSpPr>
          <p:spPr>
            <a:xfrm>
              <a:off x="1879045" y="1140600"/>
              <a:ext cx="201132" cy="190567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418" name="TextBox 417">
              <a:extLst>
                <a:ext uri="{FF2B5EF4-FFF2-40B4-BE49-F238E27FC236}">
                  <a16:creationId xmlns:a16="http://schemas.microsoft.com/office/drawing/2014/main" id="{E640C25A-5CBF-EA40-7476-F7C742DBCB86}"/>
                </a:ext>
              </a:extLst>
            </p:cNvPr>
            <p:cNvSpPr txBox="1"/>
            <p:nvPr/>
          </p:nvSpPr>
          <p:spPr>
            <a:xfrm>
              <a:off x="1821555" y="1112772"/>
              <a:ext cx="316112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Py</a:t>
              </a:r>
            </a:p>
          </p:txBody>
        </p:sp>
      </p:grpSp>
      <p:grpSp>
        <p:nvGrpSpPr>
          <p:cNvPr id="477" name="Group 476">
            <a:extLst>
              <a:ext uri="{FF2B5EF4-FFF2-40B4-BE49-F238E27FC236}">
                <a16:creationId xmlns:a16="http://schemas.microsoft.com/office/drawing/2014/main" id="{16E52D7E-BDF4-D56E-0419-E7514F7C0887}"/>
              </a:ext>
            </a:extLst>
          </p:cNvPr>
          <p:cNvGrpSpPr/>
          <p:nvPr/>
        </p:nvGrpSpPr>
        <p:grpSpPr>
          <a:xfrm>
            <a:off x="5543483" y="821505"/>
            <a:ext cx="316112" cy="246221"/>
            <a:chOff x="1821555" y="1112772"/>
            <a:chExt cx="316112" cy="246221"/>
          </a:xfrm>
        </p:grpSpPr>
        <p:sp>
          <p:nvSpPr>
            <p:cNvPr id="478" name="Oval 477">
              <a:extLst>
                <a:ext uri="{FF2B5EF4-FFF2-40B4-BE49-F238E27FC236}">
                  <a16:creationId xmlns:a16="http://schemas.microsoft.com/office/drawing/2014/main" id="{B74FD41A-1D5A-9FF5-3440-75A44FBBED26}"/>
                </a:ext>
              </a:extLst>
            </p:cNvPr>
            <p:cNvSpPr/>
            <p:nvPr/>
          </p:nvSpPr>
          <p:spPr>
            <a:xfrm>
              <a:off x="1879045" y="1140600"/>
              <a:ext cx="201132" cy="190567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479" name="TextBox 478">
              <a:extLst>
                <a:ext uri="{FF2B5EF4-FFF2-40B4-BE49-F238E27FC236}">
                  <a16:creationId xmlns:a16="http://schemas.microsoft.com/office/drawing/2014/main" id="{B98D6A4C-EA90-060D-DC50-70C7A443ABE4}"/>
                </a:ext>
              </a:extLst>
            </p:cNvPr>
            <p:cNvSpPr txBox="1"/>
            <p:nvPr/>
          </p:nvSpPr>
          <p:spPr>
            <a:xfrm>
              <a:off x="1821555" y="1112772"/>
              <a:ext cx="316112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Py</a:t>
              </a:r>
            </a:p>
          </p:txBody>
        </p:sp>
      </p:grpSp>
      <p:grpSp>
        <p:nvGrpSpPr>
          <p:cNvPr id="480" name="Group 479">
            <a:extLst>
              <a:ext uri="{FF2B5EF4-FFF2-40B4-BE49-F238E27FC236}">
                <a16:creationId xmlns:a16="http://schemas.microsoft.com/office/drawing/2014/main" id="{2CD8C07E-F8A6-C72E-C9C9-44AEE69F4CEB}"/>
              </a:ext>
            </a:extLst>
          </p:cNvPr>
          <p:cNvGrpSpPr/>
          <p:nvPr/>
        </p:nvGrpSpPr>
        <p:grpSpPr>
          <a:xfrm>
            <a:off x="7705046" y="821505"/>
            <a:ext cx="316113" cy="246221"/>
            <a:chOff x="1827818" y="1112772"/>
            <a:chExt cx="316112" cy="246221"/>
          </a:xfrm>
        </p:grpSpPr>
        <p:sp>
          <p:nvSpPr>
            <p:cNvPr id="481" name="Oval 480">
              <a:extLst>
                <a:ext uri="{FF2B5EF4-FFF2-40B4-BE49-F238E27FC236}">
                  <a16:creationId xmlns:a16="http://schemas.microsoft.com/office/drawing/2014/main" id="{85317449-6C03-1186-F0E7-09D458B5FF0D}"/>
                </a:ext>
              </a:extLst>
            </p:cNvPr>
            <p:cNvSpPr/>
            <p:nvPr/>
          </p:nvSpPr>
          <p:spPr>
            <a:xfrm>
              <a:off x="1879045" y="1140600"/>
              <a:ext cx="201132" cy="190567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482" name="TextBox 481">
              <a:extLst>
                <a:ext uri="{FF2B5EF4-FFF2-40B4-BE49-F238E27FC236}">
                  <a16:creationId xmlns:a16="http://schemas.microsoft.com/office/drawing/2014/main" id="{5DEBD7EF-FF67-2987-A01A-C443713F14E4}"/>
                </a:ext>
              </a:extLst>
            </p:cNvPr>
            <p:cNvSpPr txBox="1"/>
            <p:nvPr/>
          </p:nvSpPr>
          <p:spPr>
            <a:xfrm>
              <a:off x="1827818" y="1112772"/>
              <a:ext cx="316112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Py</a:t>
              </a:r>
            </a:p>
          </p:txBody>
        </p:sp>
      </p:grpSp>
      <p:grpSp>
        <p:nvGrpSpPr>
          <p:cNvPr id="483" name="Group 482">
            <a:extLst>
              <a:ext uri="{FF2B5EF4-FFF2-40B4-BE49-F238E27FC236}">
                <a16:creationId xmlns:a16="http://schemas.microsoft.com/office/drawing/2014/main" id="{69093A83-7C4D-D01B-2958-404D6C5CEF8D}"/>
              </a:ext>
            </a:extLst>
          </p:cNvPr>
          <p:cNvGrpSpPr/>
          <p:nvPr/>
        </p:nvGrpSpPr>
        <p:grpSpPr>
          <a:xfrm>
            <a:off x="9816505" y="821505"/>
            <a:ext cx="316112" cy="246221"/>
            <a:chOff x="1821555" y="1112772"/>
            <a:chExt cx="316112" cy="246221"/>
          </a:xfrm>
        </p:grpSpPr>
        <p:sp>
          <p:nvSpPr>
            <p:cNvPr id="484" name="Oval 483">
              <a:extLst>
                <a:ext uri="{FF2B5EF4-FFF2-40B4-BE49-F238E27FC236}">
                  <a16:creationId xmlns:a16="http://schemas.microsoft.com/office/drawing/2014/main" id="{DF44BEDC-0F86-5398-6154-D20E0127FAD2}"/>
                </a:ext>
              </a:extLst>
            </p:cNvPr>
            <p:cNvSpPr/>
            <p:nvPr/>
          </p:nvSpPr>
          <p:spPr>
            <a:xfrm>
              <a:off x="1879045" y="1140600"/>
              <a:ext cx="201132" cy="190567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485" name="TextBox 484">
              <a:extLst>
                <a:ext uri="{FF2B5EF4-FFF2-40B4-BE49-F238E27FC236}">
                  <a16:creationId xmlns:a16="http://schemas.microsoft.com/office/drawing/2014/main" id="{32FD35B5-3C66-21F8-783B-BBDC7E6E1CDA}"/>
                </a:ext>
              </a:extLst>
            </p:cNvPr>
            <p:cNvSpPr txBox="1"/>
            <p:nvPr/>
          </p:nvSpPr>
          <p:spPr>
            <a:xfrm>
              <a:off x="1821555" y="1112772"/>
              <a:ext cx="316112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Py</a:t>
              </a:r>
            </a:p>
          </p:txBody>
        </p:sp>
      </p:grpSp>
      <p:grpSp>
        <p:nvGrpSpPr>
          <p:cNvPr id="486" name="Group 485">
            <a:extLst>
              <a:ext uri="{FF2B5EF4-FFF2-40B4-BE49-F238E27FC236}">
                <a16:creationId xmlns:a16="http://schemas.microsoft.com/office/drawing/2014/main" id="{6C8EFB8A-8D97-98E6-F56E-5E83B15C1911}"/>
              </a:ext>
            </a:extLst>
          </p:cNvPr>
          <p:cNvGrpSpPr/>
          <p:nvPr/>
        </p:nvGrpSpPr>
        <p:grpSpPr>
          <a:xfrm>
            <a:off x="6638579" y="2580677"/>
            <a:ext cx="316112" cy="246221"/>
            <a:chOff x="1821555" y="1112772"/>
            <a:chExt cx="316112" cy="246221"/>
          </a:xfrm>
        </p:grpSpPr>
        <p:sp>
          <p:nvSpPr>
            <p:cNvPr id="487" name="Oval 486">
              <a:extLst>
                <a:ext uri="{FF2B5EF4-FFF2-40B4-BE49-F238E27FC236}">
                  <a16:creationId xmlns:a16="http://schemas.microsoft.com/office/drawing/2014/main" id="{06AE4531-881D-1972-EF54-7DC4337BD5F8}"/>
                </a:ext>
              </a:extLst>
            </p:cNvPr>
            <p:cNvSpPr/>
            <p:nvPr/>
          </p:nvSpPr>
          <p:spPr>
            <a:xfrm>
              <a:off x="1879045" y="1140600"/>
              <a:ext cx="201132" cy="190567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488" name="TextBox 487">
              <a:extLst>
                <a:ext uri="{FF2B5EF4-FFF2-40B4-BE49-F238E27FC236}">
                  <a16:creationId xmlns:a16="http://schemas.microsoft.com/office/drawing/2014/main" id="{2630204D-DEA2-E76B-BC40-A298C2C0F459}"/>
                </a:ext>
              </a:extLst>
            </p:cNvPr>
            <p:cNvSpPr txBox="1"/>
            <p:nvPr/>
          </p:nvSpPr>
          <p:spPr>
            <a:xfrm>
              <a:off x="1821555" y="1112772"/>
              <a:ext cx="316112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Py</a:t>
              </a:r>
            </a:p>
          </p:txBody>
        </p:sp>
      </p:grpSp>
      <p:grpSp>
        <p:nvGrpSpPr>
          <p:cNvPr id="489" name="Group 488">
            <a:extLst>
              <a:ext uri="{FF2B5EF4-FFF2-40B4-BE49-F238E27FC236}">
                <a16:creationId xmlns:a16="http://schemas.microsoft.com/office/drawing/2014/main" id="{484A3E33-F5F7-A923-FF21-5A33E344082D}"/>
              </a:ext>
            </a:extLst>
          </p:cNvPr>
          <p:cNvGrpSpPr/>
          <p:nvPr/>
        </p:nvGrpSpPr>
        <p:grpSpPr>
          <a:xfrm>
            <a:off x="9827036" y="2580677"/>
            <a:ext cx="316112" cy="246221"/>
            <a:chOff x="1821555" y="1112772"/>
            <a:chExt cx="316112" cy="246221"/>
          </a:xfrm>
        </p:grpSpPr>
        <p:sp>
          <p:nvSpPr>
            <p:cNvPr id="490" name="Oval 489">
              <a:extLst>
                <a:ext uri="{FF2B5EF4-FFF2-40B4-BE49-F238E27FC236}">
                  <a16:creationId xmlns:a16="http://schemas.microsoft.com/office/drawing/2014/main" id="{FC987155-85DF-F5AB-5FD7-CB7F6467F91C}"/>
                </a:ext>
              </a:extLst>
            </p:cNvPr>
            <p:cNvSpPr/>
            <p:nvPr/>
          </p:nvSpPr>
          <p:spPr>
            <a:xfrm>
              <a:off x="1879045" y="1140600"/>
              <a:ext cx="201132" cy="190567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491" name="TextBox 490">
              <a:extLst>
                <a:ext uri="{FF2B5EF4-FFF2-40B4-BE49-F238E27FC236}">
                  <a16:creationId xmlns:a16="http://schemas.microsoft.com/office/drawing/2014/main" id="{D31F1AA6-40A6-188D-6D20-EC01D9AC823A}"/>
                </a:ext>
              </a:extLst>
            </p:cNvPr>
            <p:cNvSpPr txBox="1"/>
            <p:nvPr/>
          </p:nvSpPr>
          <p:spPr>
            <a:xfrm>
              <a:off x="1821555" y="1112772"/>
              <a:ext cx="316112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Py</a:t>
              </a:r>
            </a:p>
          </p:txBody>
        </p:sp>
      </p:grpSp>
      <p:grpSp>
        <p:nvGrpSpPr>
          <p:cNvPr id="492" name="Group 491">
            <a:extLst>
              <a:ext uri="{FF2B5EF4-FFF2-40B4-BE49-F238E27FC236}">
                <a16:creationId xmlns:a16="http://schemas.microsoft.com/office/drawing/2014/main" id="{1DAAFD07-3562-A64B-D32C-E20F1B860CC6}"/>
              </a:ext>
            </a:extLst>
          </p:cNvPr>
          <p:cNvGrpSpPr/>
          <p:nvPr/>
        </p:nvGrpSpPr>
        <p:grpSpPr>
          <a:xfrm>
            <a:off x="9819616" y="4439496"/>
            <a:ext cx="298480" cy="246221"/>
            <a:chOff x="2303589" y="1482334"/>
            <a:chExt cx="298480" cy="246221"/>
          </a:xfrm>
        </p:grpSpPr>
        <p:sp>
          <p:nvSpPr>
            <p:cNvPr id="493" name="Oval 492">
              <a:extLst>
                <a:ext uri="{FF2B5EF4-FFF2-40B4-BE49-F238E27FC236}">
                  <a16:creationId xmlns:a16="http://schemas.microsoft.com/office/drawing/2014/main" id="{B9C62F8C-6F8D-731E-9537-422969340094}"/>
                </a:ext>
              </a:extLst>
            </p:cNvPr>
            <p:cNvSpPr/>
            <p:nvPr/>
          </p:nvSpPr>
          <p:spPr>
            <a:xfrm>
              <a:off x="2348639" y="1510162"/>
              <a:ext cx="201132" cy="190567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494" name="TextBox 493">
              <a:extLst>
                <a:ext uri="{FF2B5EF4-FFF2-40B4-BE49-F238E27FC236}">
                  <a16:creationId xmlns:a16="http://schemas.microsoft.com/office/drawing/2014/main" id="{24F2E1A0-DD78-FF38-750D-834CE3DD99F2}"/>
                </a:ext>
              </a:extLst>
            </p:cNvPr>
            <p:cNvSpPr txBox="1"/>
            <p:nvPr/>
          </p:nvSpPr>
          <p:spPr>
            <a:xfrm>
              <a:off x="2303589" y="1482334"/>
              <a:ext cx="298480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JS</a:t>
              </a:r>
            </a:p>
          </p:txBody>
        </p:sp>
      </p:grpSp>
      <p:grpSp>
        <p:nvGrpSpPr>
          <p:cNvPr id="495" name="Group 494">
            <a:extLst>
              <a:ext uri="{FF2B5EF4-FFF2-40B4-BE49-F238E27FC236}">
                <a16:creationId xmlns:a16="http://schemas.microsoft.com/office/drawing/2014/main" id="{BB95E120-D829-ACC8-8D56-92A59AA6A60A}"/>
              </a:ext>
            </a:extLst>
          </p:cNvPr>
          <p:cNvGrpSpPr/>
          <p:nvPr/>
        </p:nvGrpSpPr>
        <p:grpSpPr>
          <a:xfrm>
            <a:off x="6648112" y="5621190"/>
            <a:ext cx="298480" cy="246221"/>
            <a:chOff x="2303589" y="1482334"/>
            <a:chExt cx="298480" cy="246221"/>
          </a:xfrm>
        </p:grpSpPr>
        <p:sp>
          <p:nvSpPr>
            <p:cNvPr id="496" name="Oval 495">
              <a:extLst>
                <a:ext uri="{FF2B5EF4-FFF2-40B4-BE49-F238E27FC236}">
                  <a16:creationId xmlns:a16="http://schemas.microsoft.com/office/drawing/2014/main" id="{CB7C341E-44CB-5BA9-8DC7-28626CFF3C63}"/>
                </a:ext>
              </a:extLst>
            </p:cNvPr>
            <p:cNvSpPr/>
            <p:nvPr/>
          </p:nvSpPr>
          <p:spPr>
            <a:xfrm>
              <a:off x="2348639" y="1510162"/>
              <a:ext cx="201132" cy="190567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497" name="TextBox 496">
              <a:extLst>
                <a:ext uri="{FF2B5EF4-FFF2-40B4-BE49-F238E27FC236}">
                  <a16:creationId xmlns:a16="http://schemas.microsoft.com/office/drawing/2014/main" id="{168ACE6A-F88D-B45A-ACB3-473779A2B8E9}"/>
                </a:ext>
              </a:extLst>
            </p:cNvPr>
            <p:cNvSpPr txBox="1"/>
            <p:nvPr/>
          </p:nvSpPr>
          <p:spPr>
            <a:xfrm>
              <a:off x="2303589" y="1482334"/>
              <a:ext cx="298480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JS</a:t>
              </a:r>
            </a:p>
          </p:txBody>
        </p:sp>
      </p:grpSp>
      <p:sp>
        <p:nvSpPr>
          <p:cNvPr id="499" name="TextBox 498">
            <a:extLst>
              <a:ext uri="{FF2B5EF4-FFF2-40B4-BE49-F238E27FC236}">
                <a16:creationId xmlns:a16="http://schemas.microsoft.com/office/drawing/2014/main" id="{8D0482D5-4413-8FAD-3D80-0DB694A1871D}"/>
              </a:ext>
            </a:extLst>
          </p:cNvPr>
          <p:cNvSpPr txBox="1"/>
          <p:nvPr/>
        </p:nvSpPr>
        <p:spPr>
          <a:xfrm>
            <a:off x="4541841" y="2673967"/>
            <a:ext cx="142665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i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tessellate objects</a:t>
            </a:r>
          </a:p>
        </p:txBody>
      </p:sp>
      <p:sp>
        <p:nvSpPr>
          <p:cNvPr id="500" name="TextBox 499">
            <a:extLst>
              <a:ext uri="{FF2B5EF4-FFF2-40B4-BE49-F238E27FC236}">
                <a16:creationId xmlns:a16="http://schemas.microsoft.com/office/drawing/2014/main" id="{701A7896-1814-AB61-4C7A-94ECF4C1F803}"/>
              </a:ext>
            </a:extLst>
          </p:cNvPr>
          <p:cNvSpPr txBox="1"/>
          <p:nvPr/>
        </p:nvSpPr>
        <p:spPr>
          <a:xfrm>
            <a:off x="7649434" y="5106818"/>
            <a:ext cx="95251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DE"/>
            </a:defPPr>
            <a:lvl1pPr algn="ctr">
              <a:defRPr sz="800" i="1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dirty="0"/>
              <a:t>show meshes, set configs, </a:t>
            </a:r>
            <a:br>
              <a:rPr lang="en-US" dirty="0"/>
            </a:br>
            <a:r>
              <a:rPr lang="en-US" dirty="0"/>
              <a:t>and notify back</a:t>
            </a:r>
          </a:p>
        </p:txBody>
      </p:sp>
      <p:sp>
        <p:nvSpPr>
          <p:cNvPr id="501" name="TextBox 500">
            <a:extLst>
              <a:ext uri="{FF2B5EF4-FFF2-40B4-BE49-F238E27FC236}">
                <a16:creationId xmlns:a16="http://schemas.microsoft.com/office/drawing/2014/main" id="{E636AFEF-C37E-EC32-493E-C2028A583FB7}"/>
              </a:ext>
            </a:extLst>
          </p:cNvPr>
          <p:cNvSpPr txBox="1"/>
          <p:nvPr/>
        </p:nvSpPr>
        <p:spPr>
          <a:xfrm>
            <a:off x="7496994" y="3895516"/>
            <a:ext cx="142665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i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send meshes,</a:t>
            </a:r>
            <a:br>
              <a:rPr lang="en-US" sz="800" i="1" dirty="0">
                <a:solidFill>
                  <a:schemeClr val="tx1">
                    <a:lumMod val="75000"/>
                    <a:lumOff val="25000"/>
                  </a:schemeClr>
                </a:solidFill>
              </a:rPr>
            </a:br>
            <a:r>
              <a:rPr lang="en-US" sz="800" i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send configs, </a:t>
            </a:r>
            <a:br>
              <a:rPr lang="en-US" sz="800" i="1" dirty="0">
                <a:solidFill>
                  <a:schemeClr val="tx1">
                    <a:lumMod val="75000"/>
                    <a:lumOff val="25000"/>
                  </a:schemeClr>
                </a:solidFill>
              </a:rPr>
            </a:br>
            <a:r>
              <a:rPr lang="en-US" sz="800" i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receive notifications</a:t>
            </a:r>
          </a:p>
        </p:txBody>
      </p:sp>
      <p:cxnSp>
        <p:nvCxnSpPr>
          <p:cNvPr id="502" name="Straight Connector 501">
            <a:extLst>
              <a:ext uri="{FF2B5EF4-FFF2-40B4-BE49-F238E27FC236}">
                <a16:creationId xmlns:a16="http://schemas.microsoft.com/office/drawing/2014/main" id="{DB1EAAFE-D066-2E98-C7FF-D6346D7FED8B}"/>
              </a:ext>
            </a:extLst>
          </p:cNvPr>
          <p:cNvCxnSpPr>
            <a:cxnSpLocks/>
            <a:stCxn id="507" idx="6"/>
            <a:endCxn id="33" idx="2"/>
          </p:cNvCxnSpPr>
          <p:nvPr/>
        </p:nvCxnSpPr>
        <p:spPr>
          <a:xfrm flipV="1">
            <a:off x="9717471" y="3176525"/>
            <a:ext cx="535675" cy="306736"/>
          </a:xfrm>
          <a:prstGeom prst="curvedConnector2">
            <a:avLst/>
          </a:prstGeom>
          <a:ln w="12700">
            <a:solidFill>
              <a:schemeClr val="accent6"/>
            </a:solidFill>
            <a:prstDash val="solid"/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7" name="Oval 506">
            <a:extLst>
              <a:ext uri="{FF2B5EF4-FFF2-40B4-BE49-F238E27FC236}">
                <a16:creationId xmlns:a16="http://schemas.microsoft.com/office/drawing/2014/main" id="{2AA42AB4-6253-4E9E-1C33-AF2F8EC4B2DA}"/>
              </a:ext>
            </a:extLst>
          </p:cNvPr>
          <p:cNvSpPr/>
          <p:nvPr/>
        </p:nvSpPr>
        <p:spPr>
          <a:xfrm>
            <a:off x="8744685" y="3354472"/>
            <a:ext cx="972786" cy="257578"/>
          </a:xfrm>
          <a:prstGeom prst="ellipse">
            <a:avLst/>
          </a:prstGeom>
          <a:noFill/>
          <a:ln w="12700">
            <a:solidFill>
              <a:schemeClr val="accent6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sz="1000" dirty="0">
                <a:solidFill>
                  <a:schemeClr val="accent6"/>
                </a:solidFill>
              </a:rPr>
              <a:t>JupyterComms</a:t>
            </a:r>
          </a:p>
        </p:txBody>
      </p:sp>
      <p:sp>
        <p:nvSpPr>
          <p:cNvPr id="522" name="Rounded Rectangle 521">
            <a:extLst>
              <a:ext uri="{FF2B5EF4-FFF2-40B4-BE49-F238E27FC236}">
                <a16:creationId xmlns:a16="http://schemas.microsoft.com/office/drawing/2014/main" id="{5A66B62A-C1EF-FACA-F593-FFF3B4575437}"/>
              </a:ext>
            </a:extLst>
          </p:cNvPr>
          <p:cNvSpPr/>
          <p:nvPr/>
        </p:nvSpPr>
        <p:spPr>
          <a:xfrm>
            <a:off x="2790554" y="4617187"/>
            <a:ext cx="977848" cy="293802"/>
          </a:xfrm>
          <a:prstGeom prst="roundRect">
            <a:avLst/>
          </a:prstGeom>
          <a:ln w="19050">
            <a:solidFill>
              <a:schemeClr val="accent2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tIns="0" rIns="36000" bIns="0" rtlCol="0" anchor="ctr"/>
          <a:lstStyle/>
          <a:p>
            <a:pPr algn="ctr"/>
            <a:r>
              <a:rPr lang="de-DE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WebView</a:t>
            </a:r>
            <a:endParaRPr lang="en-DE" sz="16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cxnSp>
        <p:nvCxnSpPr>
          <p:cNvPr id="525" name="Straight Connector 31">
            <a:extLst>
              <a:ext uri="{FF2B5EF4-FFF2-40B4-BE49-F238E27FC236}">
                <a16:creationId xmlns:a16="http://schemas.microsoft.com/office/drawing/2014/main" id="{C0AC394B-B3DD-81E5-621D-579100595761}"/>
              </a:ext>
            </a:extLst>
          </p:cNvPr>
          <p:cNvCxnSpPr>
            <a:cxnSpLocks/>
            <a:stCxn id="264" idx="3"/>
            <a:endCxn id="522" idx="1"/>
          </p:cNvCxnSpPr>
          <p:nvPr/>
        </p:nvCxnSpPr>
        <p:spPr>
          <a:xfrm>
            <a:off x="2604603" y="4764088"/>
            <a:ext cx="185951" cy="0"/>
          </a:xfrm>
          <a:prstGeom prst="straightConnector1">
            <a:avLst/>
          </a:prstGeom>
          <a:ln w="12700">
            <a:solidFill>
              <a:schemeClr val="tx1">
                <a:lumMod val="75000"/>
                <a:lumOff val="25000"/>
              </a:schemeClr>
            </a:solidFill>
            <a:headEnd type="non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56" name="TextBox 555">
            <a:extLst>
              <a:ext uri="{FF2B5EF4-FFF2-40B4-BE49-F238E27FC236}">
                <a16:creationId xmlns:a16="http://schemas.microsoft.com/office/drawing/2014/main" id="{49484DD3-C59D-FC70-CEB0-8F26BD16BD65}"/>
              </a:ext>
            </a:extLst>
          </p:cNvPr>
          <p:cNvSpPr txBox="1"/>
          <p:nvPr/>
        </p:nvSpPr>
        <p:spPr>
          <a:xfrm>
            <a:off x="9744727" y="3898818"/>
            <a:ext cx="1173852" cy="461665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800" i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send meshes,</a:t>
            </a:r>
            <a:br>
              <a:rPr lang="en-US" sz="800" i="1" dirty="0">
                <a:solidFill>
                  <a:schemeClr val="tx1">
                    <a:lumMod val="75000"/>
                    <a:lumOff val="25000"/>
                  </a:schemeClr>
                </a:solidFill>
              </a:rPr>
            </a:br>
            <a:r>
              <a:rPr lang="en-US" sz="800" i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send configs, </a:t>
            </a:r>
            <a:br>
              <a:rPr lang="en-US" sz="800" i="1" dirty="0">
                <a:solidFill>
                  <a:schemeClr val="tx1">
                    <a:lumMod val="75000"/>
                    <a:lumOff val="25000"/>
                  </a:schemeClr>
                </a:solidFill>
              </a:rPr>
            </a:br>
            <a:r>
              <a:rPr lang="en-US" sz="800" i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receive notifications</a:t>
            </a:r>
          </a:p>
        </p:txBody>
      </p:sp>
      <p:grpSp>
        <p:nvGrpSpPr>
          <p:cNvPr id="585" name="Group 584">
            <a:extLst>
              <a:ext uri="{FF2B5EF4-FFF2-40B4-BE49-F238E27FC236}">
                <a16:creationId xmlns:a16="http://schemas.microsoft.com/office/drawing/2014/main" id="{DD967F9A-83E5-0D13-C6C7-D87E80381B9F}"/>
              </a:ext>
            </a:extLst>
          </p:cNvPr>
          <p:cNvGrpSpPr/>
          <p:nvPr/>
        </p:nvGrpSpPr>
        <p:grpSpPr>
          <a:xfrm>
            <a:off x="1397131" y="2580677"/>
            <a:ext cx="316112" cy="246221"/>
            <a:chOff x="1821555" y="1112772"/>
            <a:chExt cx="316112" cy="246221"/>
          </a:xfrm>
        </p:grpSpPr>
        <p:sp>
          <p:nvSpPr>
            <p:cNvPr id="586" name="Oval 585">
              <a:extLst>
                <a:ext uri="{FF2B5EF4-FFF2-40B4-BE49-F238E27FC236}">
                  <a16:creationId xmlns:a16="http://schemas.microsoft.com/office/drawing/2014/main" id="{1E0649B4-20F3-6205-63A0-D2484702A7D0}"/>
                </a:ext>
              </a:extLst>
            </p:cNvPr>
            <p:cNvSpPr/>
            <p:nvPr/>
          </p:nvSpPr>
          <p:spPr>
            <a:xfrm>
              <a:off x="1879045" y="1140600"/>
              <a:ext cx="201132" cy="190567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587" name="TextBox 586">
              <a:extLst>
                <a:ext uri="{FF2B5EF4-FFF2-40B4-BE49-F238E27FC236}">
                  <a16:creationId xmlns:a16="http://schemas.microsoft.com/office/drawing/2014/main" id="{7ECAA5DE-4F2D-BF49-C10C-19EC5A9208A6}"/>
                </a:ext>
              </a:extLst>
            </p:cNvPr>
            <p:cNvSpPr txBox="1"/>
            <p:nvPr/>
          </p:nvSpPr>
          <p:spPr>
            <a:xfrm>
              <a:off x="1821555" y="1112772"/>
              <a:ext cx="316112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Py</a:t>
              </a:r>
            </a:p>
          </p:txBody>
        </p:sp>
      </p:grpSp>
      <p:cxnSp>
        <p:nvCxnSpPr>
          <p:cNvPr id="616" name="Straight Connector 501">
            <a:extLst>
              <a:ext uri="{FF2B5EF4-FFF2-40B4-BE49-F238E27FC236}">
                <a16:creationId xmlns:a16="http://schemas.microsoft.com/office/drawing/2014/main" id="{45611EEC-B1BD-21B7-553F-F7BA6103C95F}"/>
              </a:ext>
            </a:extLst>
          </p:cNvPr>
          <p:cNvCxnSpPr>
            <a:cxnSpLocks/>
            <a:stCxn id="508" idx="2"/>
            <a:endCxn id="507" idx="2"/>
          </p:cNvCxnSpPr>
          <p:nvPr/>
        </p:nvCxnSpPr>
        <p:spPr>
          <a:xfrm rot="16200000" flipH="1">
            <a:off x="8244413" y="2982988"/>
            <a:ext cx="306735" cy="693810"/>
          </a:xfrm>
          <a:prstGeom prst="curvedConnector2">
            <a:avLst/>
          </a:prstGeom>
          <a:ln w="12700">
            <a:solidFill>
              <a:schemeClr val="accent6"/>
            </a:solidFill>
            <a:prstDash val="solid"/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2" name="Straight Connector 133">
            <a:extLst>
              <a:ext uri="{FF2B5EF4-FFF2-40B4-BE49-F238E27FC236}">
                <a16:creationId xmlns:a16="http://schemas.microsoft.com/office/drawing/2014/main" id="{6D5E76A7-137D-4EFA-0D3B-35F1A3AE370F}"/>
              </a:ext>
            </a:extLst>
          </p:cNvPr>
          <p:cNvCxnSpPr>
            <a:cxnSpLocks/>
            <a:stCxn id="9" idx="2"/>
            <a:endCxn id="110" idx="0"/>
          </p:cNvCxnSpPr>
          <p:nvPr/>
        </p:nvCxnSpPr>
        <p:spPr>
          <a:xfrm rot="5400000">
            <a:off x="7464575" y="3402483"/>
            <a:ext cx="454659" cy="2745"/>
          </a:xfrm>
          <a:prstGeom prst="curvedConnector3">
            <a:avLst>
              <a:gd name="adj1" fmla="val 50000"/>
            </a:avLst>
          </a:prstGeom>
          <a:ln w="12700">
            <a:solidFill>
              <a:schemeClr val="accent5"/>
            </a:solidFill>
            <a:prstDash val="solid"/>
            <a:headEnd type="triangl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3" name="Straight Connector 14">
            <a:extLst>
              <a:ext uri="{FF2B5EF4-FFF2-40B4-BE49-F238E27FC236}">
                <a16:creationId xmlns:a16="http://schemas.microsoft.com/office/drawing/2014/main" id="{7ACD3E89-0D9A-0C6A-33C7-7BA830D10940}"/>
              </a:ext>
            </a:extLst>
          </p:cNvPr>
          <p:cNvCxnSpPr>
            <a:cxnSpLocks/>
            <a:stCxn id="5" idx="2"/>
            <a:endCxn id="302" idx="0"/>
          </p:cNvCxnSpPr>
          <p:nvPr/>
        </p:nvCxnSpPr>
        <p:spPr>
          <a:xfrm flipH="1">
            <a:off x="4476428" y="1414920"/>
            <a:ext cx="2622" cy="190525"/>
          </a:xfrm>
          <a:prstGeom prst="straightConnector1">
            <a:avLst/>
          </a:prstGeom>
          <a:ln w="12700">
            <a:solidFill>
              <a:schemeClr val="accent5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36" name="Straight Connector 14">
            <a:extLst>
              <a:ext uri="{FF2B5EF4-FFF2-40B4-BE49-F238E27FC236}">
                <a16:creationId xmlns:a16="http://schemas.microsoft.com/office/drawing/2014/main" id="{68E36915-6FD4-3875-9F24-246341757893}"/>
              </a:ext>
            </a:extLst>
          </p:cNvPr>
          <p:cNvCxnSpPr>
            <a:cxnSpLocks/>
            <a:stCxn id="4" idx="2"/>
            <a:endCxn id="303" idx="0"/>
          </p:cNvCxnSpPr>
          <p:nvPr/>
        </p:nvCxnSpPr>
        <p:spPr>
          <a:xfrm flipH="1">
            <a:off x="6602996" y="1414920"/>
            <a:ext cx="1242" cy="190525"/>
          </a:xfrm>
          <a:prstGeom prst="straightConnector1">
            <a:avLst/>
          </a:prstGeom>
          <a:ln w="12700">
            <a:solidFill>
              <a:schemeClr val="accent5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39" name="Straight Connector 14">
            <a:extLst>
              <a:ext uri="{FF2B5EF4-FFF2-40B4-BE49-F238E27FC236}">
                <a16:creationId xmlns:a16="http://schemas.microsoft.com/office/drawing/2014/main" id="{98614081-57DD-58B3-64A9-8C8AA17865B5}"/>
              </a:ext>
            </a:extLst>
          </p:cNvPr>
          <p:cNvCxnSpPr>
            <a:cxnSpLocks/>
            <a:stCxn id="8" idx="2"/>
            <a:endCxn id="304" idx="0"/>
          </p:cNvCxnSpPr>
          <p:nvPr/>
        </p:nvCxnSpPr>
        <p:spPr>
          <a:xfrm flipH="1">
            <a:off x="8744685" y="1414920"/>
            <a:ext cx="1" cy="190525"/>
          </a:xfrm>
          <a:prstGeom prst="straightConnector1">
            <a:avLst/>
          </a:prstGeom>
          <a:ln w="12700">
            <a:solidFill>
              <a:schemeClr val="accent5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42" name="Straight Connector 14">
            <a:extLst>
              <a:ext uri="{FF2B5EF4-FFF2-40B4-BE49-F238E27FC236}">
                <a16:creationId xmlns:a16="http://schemas.microsoft.com/office/drawing/2014/main" id="{B3309D7D-9588-808F-2F3E-5B990C3A49C2}"/>
              </a:ext>
            </a:extLst>
          </p:cNvPr>
          <p:cNvCxnSpPr>
            <a:cxnSpLocks/>
            <a:stCxn id="32" idx="2"/>
            <a:endCxn id="301" idx="0"/>
          </p:cNvCxnSpPr>
          <p:nvPr/>
        </p:nvCxnSpPr>
        <p:spPr>
          <a:xfrm rot="16200000" flipH="1">
            <a:off x="10166938" y="1501128"/>
            <a:ext cx="173233" cy="816"/>
          </a:xfrm>
          <a:prstGeom prst="curvedConnector3">
            <a:avLst>
              <a:gd name="adj1" fmla="val 50000"/>
            </a:avLst>
          </a:prstGeom>
          <a:ln w="127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Straight Connector 312">
            <a:extLst>
              <a:ext uri="{FF2B5EF4-FFF2-40B4-BE49-F238E27FC236}">
                <a16:creationId xmlns:a16="http://schemas.microsoft.com/office/drawing/2014/main" id="{F0B69F18-5CCF-F038-DE3D-BA4563E4B89B}"/>
              </a:ext>
            </a:extLst>
          </p:cNvPr>
          <p:cNvCxnSpPr>
            <a:cxnSpLocks/>
            <a:stCxn id="464" idx="2"/>
            <a:endCxn id="105" idx="3"/>
          </p:cNvCxnSpPr>
          <p:nvPr/>
        </p:nvCxnSpPr>
        <p:spPr>
          <a:xfrm rot="5400000">
            <a:off x="9308969" y="4375230"/>
            <a:ext cx="912986" cy="2239342"/>
          </a:xfrm>
          <a:prstGeom prst="bentConnector2">
            <a:avLst/>
          </a:prstGeom>
          <a:ln w="12700">
            <a:solidFill>
              <a:schemeClr val="accent6"/>
            </a:solidFill>
            <a:prstDash val="solid"/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B70E4DE5-9390-A610-6ED6-E99C7D237F63}"/>
              </a:ext>
            </a:extLst>
          </p:cNvPr>
          <p:cNvSpPr txBox="1"/>
          <p:nvPr/>
        </p:nvSpPr>
        <p:spPr>
          <a:xfrm>
            <a:off x="9346089" y="5743715"/>
            <a:ext cx="95251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DE"/>
            </a:defPPr>
            <a:lvl1pPr algn="ctr">
              <a:defRPr sz="800" i="1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dirty="0"/>
              <a:t>create Viewer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7BAEA13-A05B-25DA-26A4-37BB8DEFFAC7}"/>
              </a:ext>
            </a:extLst>
          </p:cNvPr>
          <p:cNvSpPr txBox="1"/>
          <p:nvPr/>
        </p:nvSpPr>
        <p:spPr>
          <a:xfrm>
            <a:off x="8757176" y="4336492"/>
            <a:ext cx="95251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DE"/>
            </a:defPPr>
            <a:lvl1pPr algn="ctr">
              <a:defRPr sz="800" i="1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dirty="0"/>
              <a:t>show meshes, set configs, </a:t>
            </a:r>
            <a:br>
              <a:rPr lang="en-US" dirty="0"/>
            </a:br>
            <a:r>
              <a:rPr lang="en-US" dirty="0"/>
              <a:t>and notify back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12BE496-BCEC-D56D-B585-35302C420ABD}"/>
              </a:ext>
            </a:extLst>
          </p:cNvPr>
          <p:cNvSpPr txBox="1"/>
          <p:nvPr/>
        </p:nvSpPr>
        <p:spPr>
          <a:xfrm>
            <a:off x="5754952" y="4820740"/>
            <a:ext cx="95251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DE"/>
            </a:defPPr>
            <a:lvl1pPr algn="ctr">
              <a:defRPr sz="800" i="1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dirty="0"/>
              <a:t>send Viewer and Display class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52EB405-D92C-2C47-7240-43A63FE1B412}"/>
              </a:ext>
            </a:extLst>
          </p:cNvPr>
          <p:cNvSpPr txBox="1"/>
          <p:nvPr/>
        </p:nvSpPr>
        <p:spPr>
          <a:xfrm>
            <a:off x="6513995" y="5192052"/>
            <a:ext cx="49544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DE"/>
            </a:defPPr>
            <a:lvl1pPr algn="ctr">
              <a:defRPr sz="800" i="1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dirty="0"/>
              <a:t>create</a:t>
            </a:r>
            <a:br>
              <a:rPr lang="en-US" dirty="0"/>
            </a:br>
            <a:r>
              <a:rPr lang="en-US" dirty="0"/>
              <a:t>Viewer</a:t>
            </a:r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FE7D5E6D-8911-2CA1-A3CA-E46ABED54C18}"/>
              </a:ext>
            </a:extLst>
          </p:cNvPr>
          <p:cNvCxnSpPr>
            <a:cxnSpLocks/>
          </p:cNvCxnSpPr>
          <p:nvPr/>
        </p:nvCxnSpPr>
        <p:spPr>
          <a:xfrm flipV="1">
            <a:off x="6987266" y="5038408"/>
            <a:ext cx="0" cy="638666"/>
          </a:xfrm>
          <a:prstGeom prst="line">
            <a:avLst/>
          </a:prstGeom>
          <a:ln w="12700">
            <a:solidFill>
              <a:schemeClr val="accent5"/>
            </a:solidFill>
            <a:headEnd type="triangl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31">
            <a:extLst>
              <a:ext uri="{FF2B5EF4-FFF2-40B4-BE49-F238E27FC236}">
                <a16:creationId xmlns:a16="http://schemas.microsoft.com/office/drawing/2014/main" id="{AAF85AF9-9804-15F6-2B75-F300308956E6}"/>
              </a:ext>
            </a:extLst>
          </p:cNvPr>
          <p:cNvCxnSpPr>
            <a:cxnSpLocks/>
            <a:stCxn id="23" idx="1"/>
            <a:endCxn id="22" idx="2"/>
          </p:cNvCxnSpPr>
          <p:nvPr/>
        </p:nvCxnSpPr>
        <p:spPr>
          <a:xfrm rot="10800000">
            <a:off x="6231209" y="5159295"/>
            <a:ext cx="282786" cy="202035"/>
          </a:xfrm>
          <a:prstGeom prst="curvedConnector2">
            <a:avLst/>
          </a:prstGeom>
          <a:ln w="12700">
            <a:solidFill>
              <a:schemeClr val="bg1">
                <a:lumMod val="50000"/>
              </a:schemeClr>
            </a:solidFill>
            <a:prstDash val="sysDot"/>
            <a:headEnd type="none"/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2" name="Rectangle 31">
            <a:extLst>
              <a:ext uri="{FF2B5EF4-FFF2-40B4-BE49-F238E27FC236}">
                <a16:creationId xmlns:a16="http://schemas.microsoft.com/office/drawing/2014/main" id="{654DD6DC-E7DC-136A-D584-2D6D6628B46E}"/>
              </a:ext>
            </a:extLst>
          </p:cNvPr>
          <p:cNvSpPr/>
          <p:nvPr/>
        </p:nvSpPr>
        <p:spPr>
          <a:xfrm>
            <a:off x="10207690" y="1318727"/>
            <a:ext cx="90912" cy="9619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27BD7439-CAAB-E962-B086-ABC1627B1D95}"/>
              </a:ext>
            </a:extLst>
          </p:cNvPr>
          <p:cNvSpPr/>
          <p:nvPr/>
        </p:nvSpPr>
        <p:spPr>
          <a:xfrm>
            <a:off x="10207690" y="3080332"/>
            <a:ext cx="90912" cy="9619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070D4E0-3407-E9E2-EED5-F0FD82B02282}"/>
              </a:ext>
            </a:extLst>
          </p:cNvPr>
          <p:cNvSpPr txBox="1"/>
          <p:nvPr/>
        </p:nvSpPr>
        <p:spPr>
          <a:xfrm>
            <a:off x="296902" y="298533"/>
            <a:ext cx="12944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2026-10-13</a:t>
            </a:r>
          </a:p>
        </p:txBody>
      </p:sp>
    </p:spTree>
    <p:extLst>
      <p:ext uri="{BB962C8B-B14F-4D97-AF65-F5344CB8AC3E}">
        <p14:creationId xmlns:p14="http://schemas.microsoft.com/office/powerpoint/2010/main" val="94573579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DB6D13-C629-F431-6758-76CF30717E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8" name="Rectangle 507">
            <a:extLst>
              <a:ext uri="{FF2B5EF4-FFF2-40B4-BE49-F238E27FC236}">
                <a16:creationId xmlns:a16="http://schemas.microsoft.com/office/drawing/2014/main" id="{1413E514-1935-C0F1-4861-1E3D01BEDE01}"/>
              </a:ext>
            </a:extLst>
          </p:cNvPr>
          <p:cNvSpPr/>
          <p:nvPr/>
        </p:nvSpPr>
        <p:spPr>
          <a:xfrm>
            <a:off x="8384695" y="2627886"/>
            <a:ext cx="93489" cy="548640"/>
          </a:xfrm>
          <a:prstGeom prst="rect">
            <a:avLst/>
          </a:prstGeom>
          <a:noFill/>
          <a:ln w="9525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775E01B0-8EF4-D926-2793-B90C312790A7}"/>
              </a:ext>
            </a:extLst>
          </p:cNvPr>
          <p:cNvSpPr/>
          <p:nvPr/>
        </p:nvSpPr>
        <p:spPr>
          <a:xfrm>
            <a:off x="6740760" y="2627886"/>
            <a:ext cx="1905031" cy="548640"/>
          </a:xfrm>
          <a:prstGeom prst="roundRect">
            <a:avLst/>
          </a:prstGeom>
          <a:ln>
            <a:solidFill>
              <a:srgbClr val="0070C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ocp-viewer-core</a:t>
            </a:r>
            <a:br>
              <a:rPr kumimoji="0" lang="de-DE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de-DE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(1.0.13)</a:t>
            </a:r>
            <a:endParaRPr lang="en-DE" sz="16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cxnSp>
        <p:nvCxnSpPr>
          <p:cNvPr id="452" name="Straight Connector 451">
            <a:extLst>
              <a:ext uri="{FF2B5EF4-FFF2-40B4-BE49-F238E27FC236}">
                <a16:creationId xmlns:a16="http://schemas.microsoft.com/office/drawing/2014/main" id="{BCD02BC5-1540-710C-21B0-B5ED3959CC67}"/>
              </a:ext>
            </a:extLst>
          </p:cNvPr>
          <p:cNvCxnSpPr>
            <a:cxnSpLocks/>
          </p:cNvCxnSpPr>
          <p:nvPr/>
        </p:nvCxnSpPr>
        <p:spPr>
          <a:xfrm>
            <a:off x="1440908" y="3774004"/>
            <a:ext cx="10609130" cy="0"/>
          </a:xfrm>
          <a:prstGeom prst="line">
            <a:avLst/>
          </a:prstGeom>
          <a:ln w="9525">
            <a:solidFill>
              <a:srgbClr val="FF0000">
                <a:alpha val="49833"/>
              </a:srgbClr>
            </a:solidFill>
            <a:prstDash val="dash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AF714EDB-81A2-63D6-DB01-590B06D9C958}"/>
              </a:ext>
            </a:extLst>
          </p:cNvPr>
          <p:cNvSpPr/>
          <p:nvPr/>
        </p:nvSpPr>
        <p:spPr>
          <a:xfrm>
            <a:off x="3526534" y="866280"/>
            <a:ext cx="1905031" cy="548640"/>
          </a:xfrm>
          <a:prstGeom prst="round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ocp_viewer</a:t>
            </a:r>
            <a:br>
              <a:rPr lang="de-DE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</a:br>
            <a:r>
              <a:rPr lang="de-DE" sz="1000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(1.1.3)</a:t>
            </a:r>
            <a:endParaRPr lang="en-DE" sz="10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D30A7718-836F-188B-8E67-A296ED6B303D}"/>
              </a:ext>
            </a:extLst>
          </p:cNvPr>
          <p:cNvSpPr/>
          <p:nvPr/>
        </p:nvSpPr>
        <p:spPr>
          <a:xfrm>
            <a:off x="9932617" y="866280"/>
            <a:ext cx="1905031" cy="548640"/>
          </a:xfrm>
          <a:prstGeom prst="roundRect">
            <a:avLst/>
          </a:prstGeom>
          <a:solidFill>
            <a:schemeClr val="bg1"/>
          </a:solidFill>
          <a:ln>
            <a:solidFill>
              <a:schemeClr val="accent6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jupyter_cadquery</a:t>
            </a:r>
            <a:br>
              <a:rPr kumimoji="0" lang="de-DE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de-DE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(5.1.0)</a:t>
            </a:r>
            <a:endParaRPr lang="en-DE" sz="16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C910952A-9F2B-E281-286E-1A2DD5292344}"/>
              </a:ext>
            </a:extLst>
          </p:cNvPr>
          <p:cNvSpPr/>
          <p:nvPr/>
        </p:nvSpPr>
        <p:spPr>
          <a:xfrm>
            <a:off x="9932617" y="2627885"/>
            <a:ext cx="1905031" cy="548640"/>
          </a:xfrm>
          <a:prstGeom prst="roundRect">
            <a:avLst/>
          </a:prstGeom>
          <a:ln>
            <a:solidFill>
              <a:srgbClr val="0070C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cad_viewer_widget</a:t>
            </a:r>
            <a:br>
              <a:rPr kumimoji="0" lang="de-DE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de-DE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(4.1.5)</a:t>
            </a:r>
            <a:endParaRPr lang="en-DE" sz="16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D1141DC7-4A1A-9927-299A-AFDD1E905CEF}"/>
              </a:ext>
            </a:extLst>
          </p:cNvPr>
          <p:cNvSpPr/>
          <p:nvPr/>
        </p:nvSpPr>
        <p:spPr>
          <a:xfrm>
            <a:off x="5651722" y="866280"/>
            <a:ext cx="1905031" cy="548640"/>
          </a:xfrm>
          <a:prstGeom prst="roundRect">
            <a:avLst/>
          </a:prstGeom>
          <a:solidFill>
            <a:schemeClr val="bg1"/>
          </a:solidFill>
          <a:ln>
            <a:solidFill>
              <a:schemeClr val="accent2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ocp_vscode</a:t>
            </a:r>
            <a:br>
              <a:rPr kumimoji="0" lang="de-DE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de-DE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(4.1.0)</a:t>
            </a:r>
            <a:endParaRPr lang="en-DE" sz="16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65411E46-1552-EF8A-6157-812EFA8FAC7F}"/>
              </a:ext>
            </a:extLst>
          </p:cNvPr>
          <p:cNvSpPr/>
          <p:nvPr/>
        </p:nvSpPr>
        <p:spPr>
          <a:xfrm>
            <a:off x="7792170" y="866280"/>
            <a:ext cx="1905031" cy="548640"/>
          </a:xfrm>
          <a:prstGeom prst="roundRect">
            <a:avLst/>
          </a:prstGeom>
          <a:solidFill>
            <a:schemeClr val="bg1"/>
          </a:solidFill>
          <a:ln>
            <a:solidFill>
              <a:schemeClr val="accent4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build123d_studio</a:t>
            </a:r>
            <a:br>
              <a:rPr kumimoji="0" lang="de-DE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de-DE" sz="1000" b="1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(0.8.0)</a:t>
            </a:r>
            <a:endParaRPr lang="en-DE" sz="16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8CB34281-C89A-4399-CAED-C5A1B7B1D326}"/>
              </a:ext>
            </a:extLst>
          </p:cNvPr>
          <p:cNvSpPr/>
          <p:nvPr/>
        </p:nvSpPr>
        <p:spPr>
          <a:xfrm>
            <a:off x="1501473" y="2628529"/>
            <a:ext cx="1905031" cy="548640"/>
          </a:xfrm>
          <a:prstGeom prst="roundRect">
            <a:avLst/>
          </a:prstGeom>
          <a:ln>
            <a:solidFill>
              <a:srgbClr val="0070C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ocp-tessellate</a:t>
            </a:r>
            <a:br>
              <a:rPr kumimoji="0" lang="de-DE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de-DE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(3.5.3)</a:t>
            </a:r>
            <a:endParaRPr lang="en-DE" sz="16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FB822A1A-781A-1F88-706A-149A53177594}"/>
              </a:ext>
            </a:extLst>
          </p:cNvPr>
          <p:cNvCxnSpPr>
            <a:cxnSpLocks/>
            <a:stCxn id="10" idx="3"/>
            <a:endCxn id="9" idx="1"/>
          </p:cNvCxnSpPr>
          <p:nvPr/>
        </p:nvCxnSpPr>
        <p:spPr>
          <a:xfrm flipV="1">
            <a:off x="3406504" y="2902206"/>
            <a:ext cx="3334256" cy="643"/>
          </a:xfrm>
          <a:prstGeom prst="line">
            <a:avLst/>
          </a:prstGeom>
          <a:ln w="12700">
            <a:solidFill>
              <a:schemeClr val="accent5"/>
            </a:solidFill>
            <a:head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6F20B1D2-288E-6662-CC2C-624A42AE2F1C}"/>
              </a:ext>
            </a:extLst>
          </p:cNvPr>
          <p:cNvCxnSpPr>
            <a:cxnSpLocks/>
            <a:stCxn id="5" idx="2"/>
            <a:endCxn id="9" idx="0"/>
          </p:cNvCxnSpPr>
          <p:nvPr/>
        </p:nvCxnSpPr>
        <p:spPr>
          <a:xfrm rot="16200000" flipH="1">
            <a:off x="5479680" y="414290"/>
            <a:ext cx="1212966" cy="3214226"/>
          </a:xfrm>
          <a:prstGeom prst="curvedConnector3">
            <a:avLst/>
          </a:prstGeom>
          <a:ln w="12700">
            <a:solidFill>
              <a:schemeClr val="accent5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96BE4A3E-9B6E-58FF-FE1F-1E99D7C3889C}"/>
              </a:ext>
            </a:extLst>
          </p:cNvPr>
          <p:cNvCxnSpPr>
            <a:cxnSpLocks/>
            <a:stCxn id="4" idx="2"/>
            <a:endCxn id="9" idx="0"/>
          </p:cNvCxnSpPr>
          <p:nvPr/>
        </p:nvCxnSpPr>
        <p:spPr>
          <a:xfrm rot="16200000" flipH="1">
            <a:off x="6542274" y="1476884"/>
            <a:ext cx="1212966" cy="1089038"/>
          </a:xfrm>
          <a:prstGeom prst="curvedConnector3">
            <a:avLst/>
          </a:prstGeom>
          <a:ln w="12700">
            <a:solidFill>
              <a:schemeClr val="accent5"/>
            </a:solidFill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C70ABC8F-12D6-33C8-A62E-0A274D360BE9}"/>
              </a:ext>
            </a:extLst>
          </p:cNvPr>
          <p:cNvCxnSpPr>
            <a:cxnSpLocks/>
            <a:stCxn id="8" idx="2"/>
            <a:endCxn id="9" idx="0"/>
          </p:cNvCxnSpPr>
          <p:nvPr/>
        </p:nvCxnSpPr>
        <p:spPr>
          <a:xfrm rot="5400000">
            <a:off x="7612498" y="1495698"/>
            <a:ext cx="1212966" cy="1051410"/>
          </a:xfrm>
          <a:prstGeom prst="curvedConnector3">
            <a:avLst/>
          </a:prstGeom>
          <a:ln w="12700">
            <a:solidFill>
              <a:schemeClr val="accent5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579C79B2-5499-3115-DC56-52B36CC1FD81}"/>
              </a:ext>
            </a:extLst>
          </p:cNvPr>
          <p:cNvCxnSpPr>
            <a:cxnSpLocks/>
            <a:stCxn id="32" idx="2"/>
            <a:endCxn id="508" idx="0"/>
          </p:cNvCxnSpPr>
          <p:nvPr/>
        </p:nvCxnSpPr>
        <p:spPr>
          <a:xfrm rot="5400000">
            <a:off x="8735810" y="1110550"/>
            <a:ext cx="1212966" cy="1821706"/>
          </a:xfrm>
          <a:prstGeom prst="curvedConnector3">
            <a:avLst/>
          </a:prstGeom>
          <a:ln w="12700">
            <a:solidFill>
              <a:schemeClr val="accent6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5" name="Rounded Rectangle 104">
            <a:extLst>
              <a:ext uri="{FF2B5EF4-FFF2-40B4-BE49-F238E27FC236}">
                <a16:creationId xmlns:a16="http://schemas.microsoft.com/office/drawing/2014/main" id="{C6F91884-F834-533B-A825-B2B195743B5B}"/>
              </a:ext>
            </a:extLst>
          </p:cNvPr>
          <p:cNvSpPr/>
          <p:nvPr/>
        </p:nvSpPr>
        <p:spPr>
          <a:xfrm>
            <a:off x="6740760" y="5677074"/>
            <a:ext cx="1905031" cy="548640"/>
          </a:xfrm>
          <a:prstGeom prst="roundRect">
            <a:avLst/>
          </a:prstGeom>
          <a:ln>
            <a:solidFill>
              <a:srgbClr val="0070C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three-cad-viewer</a:t>
            </a:r>
            <a:br>
              <a:rPr kumimoji="0" lang="de-DE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de-DE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(5.0.7)</a:t>
            </a:r>
            <a:endParaRPr lang="en-DE" sz="10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cxnSp>
        <p:nvCxnSpPr>
          <p:cNvPr id="106" name="Straight Connector 105">
            <a:extLst>
              <a:ext uri="{FF2B5EF4-FFF2-40B4-BE49-F238E27FC236}">
                <a16:creationId xmlns:a16="http://schemas.microsoft.com/office/drawing/2014/main" id="{3AD5FD44-1BF3-8822-8EEB-D6CD1E5B3C49}"/>
              </a:ext>
            </a:extLst>
          </p:cNvPr>
          <p:cNvCxnSpPr>
            <a:cxnSpLocks/>
            <a:stCxn id="105" idx="0"/>
            <a:endCxn id="111" idx="2"/>
          </p:cNvCxnSpPr>
          <p:nvPr/>
        </p:nvCxnSpPr>
        <p:spPr>
          <a:xfrm flipV="1">
            <a:off x="7693276" y="5038408"/>
            <a:ext cx="0" cy="638666"/>
          </a:xfrm>
          <a:prstGeom prst="line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1" name="Rounded Rectangle 110">
            <a:extLst>
              <a:ext uri="{FF2B5EF4-FFF2-40B4-BE49-F238E27FC236}">
                <a16:creationId xmlns:a16="http://schemas.microsoft.com/office/drawing/2014/main" id="{B1D0B5CC-AF2E-C27C-D8BE-BEC23B5F42DC}"/>
              </a:ext>
            </a:extLst>
          </p:cNvPr>
          <p:cNvSpPr/>
          <p:nvPr/>
        </p:nvSpPr>
        <p:spPr>
          <a:xfrm>
            <a:off x="6740760" y="4489768"/>
            <a:ext cx="1905031" cy="548640"/>
          </a:xfrm>
          <a:prstGeom prst="roundRect">
            <a:avLst/>
          </a:prstGeom>
          <a:ln>
            <a:solidFill>
              <a:srgbClr val="0070C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ocp-viewer-core</a:t>
            </a:r>
            <a:br>
              <a:rPr kumimoji="0" lang="de-DE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de-DE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(1.0.4)</a:t>
            </a:r>
            <a:endParaRPr lang="en-DE" sz="16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cxnSp>
        <p:nvCxnSpPr>
          <p:cNvPr id="134" name="Straight Connector 133">
            <a:extLst>
              <a:ext uri="{FF2B5EF4-FFF2-40B4-BE49-F238E27FC236}">
                <a16:creationId xmlns:a16="http://schemas.microsoft.com/office/drawing/2014/main" id="{F88EF440-FCBE-9C1F-1789-08B1D44DA754}"/>
              </a:ext>
            </a:extLst>
          </p:cNvPr>
          <p:cNvCxnSpPr>
            <a:cxnSpLocks/>
            <a:stCxn id="9" idx="2"/>
            <a:endCxn id="111" idx="0"/>
          </p:cNvCxnSpPr>
          <p:nvPr/>
        </p:nvCxnSpPr>
        <p:spPr>
          <a:xfrm>
            <a:off x="7693276" y="3176526"/>
            <a:ext cx="0" cy="1313242"/>
          </a:xfrm>
          <a:prstGeom prst="straightConnector1">
            <a:avLst/>
          </a:prstGeom>
          <a:ln w="12700">
            <a:solidFill>
              <a:schemeClr val="accent5"/>
            </a:solidFill>
            <a:prstDash val="solid"/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5" name="Rectangle 194">
            <a:extLst>
              <a:ext uri="{FF2B5EF4-FFF2-40B4-BE49-F238E27FC236}">
                <a16:creationId xmlns:a16="http://schemas.microsoft.com/office/drawing/2014/main" id="{3D8FAC90-2217-41C6-4104-F0233F6ACBFA}"/>
              </a:ext>
            </a:extLst>
          </p:cNvPr>
          <p:cNvSpPr/>
          <p:nvPr/>
        </p:nvSpPr>
        <p:spPr>
          <a:xfrm>
            <a:off x="5651723" y="305393"/>
            <a:ext cx="1905030" cy="35561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VS Code</a:t>
            </a:r>
          </a:p>
        </p:txBody>
      </p:sp>
      <p:sp>
        <p:nvSpPr>
          <p:cNvPr id="196" name="Rectangle 195">
            <a:extLst>
              <a:ext uri="{FF2B5EF4-FFF2-40B4-BE49-F238E27FC236}">
                <a16:creationId xmlns:a16="http://schemas.microsoft.com/office/drawing/2014/main" id="{5C6C535D-5213-EEE3-7031-90F767110842}"/>
              </a:ext>
            </a:extLst>
          </p:cNvPr>
          <p:cNvSpPr/>
          <p:nvPr/>
        </p:nvSpPr>
        <p:spPr>
          <a:xfrm>
            <a:off x="3511275" y="305393"/>
            <a:ext cx="1905031" cy="35561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Standalone</a:t>
            </a:r>
            <a:endParaRPr lang="en-DE" sz="1600" dirty="0">
              <a:solidFill>
                <a:schemeClr val="bg1"/>
              </a:solidFill>
            </a:endParaRPr>
          </a:p>
        </p:txBody>
      </p:sp>
      <p:sp>
        <p:nvSpPr>
          <p:cNvPr id="197" name="Rectangle 196">
            <a:extLst>
              <a:ext uri="{FF2B5EF4-FFF2-40B4-BE49-F238E27FC236}">
                <a16:creationId xmlns:a16="http://schemas.microsoft.com/office/drawing/2014/main" id="{A547D903-6595-BBCD-C32B-DB0D7844DB5F}"/>
              </a:ext>
            </a:extLst>
          </p:cNvPr>
          <p:cNvSpPr/>
          <p:nvPr/>
        </p:nvSpPr>
        <p:spPr>
          <a:xfrm>
            <a:off x="9932617" y="305393"/>
            <a:ext cx="1905031" cy="355612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Jupyter Lab</a:t>
            </a:r>
            <a:endParaRPr lang="en-DE" sz="1600" dirty="0">
              <a:solidFill>
                <a:schemeClr val="bg1"/>
              </a:solidFill>
            </a:endParaRPr>
          </a:p>
        </p:txBody>
      </p:sp>
      <p:sp>
        <p:nvSpPr>
          <p:cNvPr id="198" name="Rectangle 197">
            <a:extLst>
              <a:ext uri="{FF2B5EF4-FFF2-40B4-BE49-F238E27FC236}">
                <a16:creationId xmlns:a16="http://schemas.microsoft.com/office/drawing/2014/main" id="{B0D092D4-19F1-0C34-E64A-D5FB6B118E4D}"/>
              </a:ext>
            </a:extLst>
          </p:cNvPr>
          <p:cNvSpPr/>
          <p:nvPr/>
        </p:nvSpPr>
        <p:spPr>
          <a:xfrm>
            <a:off x="7792170" y="305393"/>
            <a:ext cx="1905031" cy="35561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Neutralinojs</a:t>
            </a:r>
            <a:endParaRPr lang="en-DE" sz="1600" dirty="0">
              <a:solidFill>
                <a:schemeClr val="bg1"/>
              </a:solidFill>
            </a:endParaRPr>
          </a:p>
        </p:txBody>
      </p:sp>
      <p:cxnSp>
        <p:nvCxnSpPr>
          <p:cNvPr id="253" name="Straight Connector 34">
            <a:extLst>
              <a:ext uri="{FF2B5EF4-FFF2-40B4-BE49-F238E27FC236}">
                <a16:creationId xmlns:a16="http://schemas.microsoft.com/office/drawing/2014/main" id="{191C504A-EA95-C954-1088-0D8F575D1FC5}"/>
              </a:ext>
            </a:extLst>
          </p:cNvPr>
          <p:cNvCxnSpPr>
            <a:cxnSpLocks/>
            <a:stCxn id="6" idx="2"/>
            <a:endCxn id="7" idx="0"/>
          </p:cNvCxnSpPr>
          <p:nvPr/>
        </p:nvCxnSpPr>
        <p:spPr>
          <a:xfrm>
            <a:off x="10885133" y="1414920"/>
            <a:ext cx="0" cy="1212965"/>
          </a:xfrm>
          <a:prstGeom prst="straightConnector1">
            <a:avLst/>
          </a:prstGeom>
          <a:ln w="12700">
            <a:solidFill>
              <a:schemeClr val="accent6"/>
            </a:solidFill>
            <a:prstDash val="solid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3" name="Rounded Rectangle 262">
            <a:extLst>
              <a:ext uri="{FF2B5EF4-FFF2-40B4-BE49-F238E27FC236}">
                <a16:creationId xmlns:a16="http://schemas.microsoft.com/office/drawing/2014/main" id="{AD195880-5AB4-341B-931F-BDE496A2C54E}"/>
              </a:ext>
            </a:extLst>
          </p:cNvPr>
          <p:cNvSpPr/>
          <p:nvPr/>
        </p:nvSpPr>
        <p:spPr>
          <a:xfrm>
            <a:off x="1391704" y="4152357"/>
            <a:ext cx="2374815" cy="293802"/>
          </a:xfrm>
          <a:prstGeom prst="roundRect">
            <a:avLst/>
          </a:prstGeom>
          <a:ln w="19050">
            <a:solidFill>
              <a:schemeClr val="accent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180000" tIns="0" rIns="36000" bIns="0" rtlCol="0" anchor="ctr"/>
          <a:lstStyle/>
          <a:p>
            <a:r>
              <a:rPr lang="de-DE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Web Page</a:t>
            </a:r>
            <a:endParaRPr lang="en-DE" sz="16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264" name="Rounded Rectangle 263">
            <a:extLst>
              <a:ext uri="{FF2B5EF4-FFF2-40B4-BE49-F238E27FC236}">
                <a16:creationId xmlns:a16="http://schemas.microsoft.com/office/drawing/2014/main" id="{EF316AE2-E660-4634-8CD2-04B44FDD374C}"/>
              </a:ext>
            </a:extLst>
          </p:cNvPr>
          <p:cNvSpPr/>
          <p:nvPr/>
        </p:nvSpPr>
        <p:spPr>
          <a:xfrm>
            <a:off x="1391704" y="4617187"/>
            <a:ext cx="1212899" cy="293802"/>
          </a:xfrm>
          <a:prstGeom prst="roundRect">
            <a:avLst/>
          </a:prstGeom>
          <a:ln w="19050">
            <a:solidFill>
              <a:schemeClr val="accent2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180000" tIns="0" rIns="36000" bIns="0" rtlCol="0" anchor="ctr"/>
          <a:lstStyle/>
          <a:p>
            <a:r>
              <a:rPr lang="de-DE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Extension</a:t>
            </a:r>
            <a:endParaRPr lang="en-DE" sz="16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265" name="Rounded Rectangle 264">
            <a:extLst>
              <a:ext uri="{FF2B5EF4-FFF2-40B4-BE49-F238E27FC236}">
                <a16:creationId xmlns:a16="http://schemas.microsoft.com/office/drawing/2014/main" id="{1A03720D-81B3-B35C-ABE1-BAE1A85F1DF2}"/>
              </a:ext>
            </a:extLst>
          </p:cNvPr>
          <p:cNvSpPr/>
          <p:nvPr/>
        </p:nvSpPr>
        <p:spPr>
          <a:xfrm>
            <a:off x="1391704" y="5088223"/>
            <a:ext cx="2374815" cy="293802"/>
          </a:xfrm>
          <a:prstGeom prst="roundRect">
            <a:avLst/>
          </a:prstGeom>
          <a:ln w="19050">
            <a:solidFill>
              <a:schemeClr val="accent4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180000" tIns="0" rIns="36000" bIns="0" rtlCol="0" anchor="ctr"/>
          <a:lstStyle/>
          <a:p>
            <a:r>
              <a:rPr lang="de-DE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Application</a:t>
            </a:r>
            <a:endParaRPr lang="en-DE" sz="16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cxnSp>
        <p:nvCxnSpPr>
          <p:cNvPr id="267" name="Straight Connector 31">
            <a:extLst>
              <a:ext uri="{FF2B5EF4-FFF2-40B4-BE49-F238E27FC236}">
                <a16:creationId xmlns:a16="http://schemas.microsoft.com/office/drawing/2014/main" id="{50912CA8-788D-30B4-F137-AF93F5B35431}"/>
              </a:ext>
            </a:extLst>
          </p:cNvPr>
          <p:cNvCxnSpPr>
            <a:cxnSpLocks/>
            <a:stCxn id="111" idx="1"/>
            <a:endCxn id="263" idx="3"/>
          </p:cNvCxnSpPr>
          <p:nvPr/>
        </p:nvCxnSpPr>
        <p:spPr>
          <a:xfrm rot="10800000">
            <a:off x="3766520" y="4299258"/>
            <a:ext cx="2974241" cy="464830"/>
          </a:xfrm>
          <a:prstGeom prst="curvedConnector3">
            <a:avLst>
              <a:gd name="adj1" fmla="val 50000"/>
            </a:avLst>
          </a:prstGeom>
          <a:ln w="12700">
            <a:solidFill>
              <a:schemeClr val="tx1">
                <a:lumMod val="75000"/>
                <a:lumOff val="25000"/>
              </a:schemeClr>
            </a:solidFill>
            <a:headEnd type="triangle"/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0" name="Straight Connector 31">
            <a:extLst>
              <a:ext uri="{FF2B5EF4-FFF2-40B4-BE49-F238E27FC236}">
                <a16:creationId xmlns:a16="http://schemas.microsoft.com/office/drawing/2014/main" id="{BDEFACD5-FA08-43E1-5EFC-ADF94AD05F73}"/>
              </a:ext>
            </a:extLst>
          </p:cNvPr>
          <p:cNvCxnSpPr>
            <a:cxnSpLocks/>
            <a:stCxn id="111" idx="1"/>
            <a:endCxn id="522" idx="3"/>
          </p:cNvCxnSpPr>
          <p:nvPr/>
        </p:nvCxnSpPr>
        <p:spPr>
          <a:xfrm flipH="1">
            <a:off x="3768402" y="4764088"/>
            <a:ext cx="2972358" cy="0"/>
          </a:xfrm>
          <a:prstGeom prst="straightConnector1">
            <a:avLst/>
          </a:prstGeom>
          <a:ln w="12700">
            <a:solidFill>
              <a:schemeClr val="tx1">
                <a:lumMod val="75000"/>
                <a:lumOff val="25000"/>
              </a:schemeClr>
            </a:solidFill>
            <a:headEnd type="triangle"/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3" name="Straight Connector 31">
            <a:extLst>
              <a:ext uri="{FF2B5EF4-FFF2-40B4-BE49-F238E27FC236}">
                <a16:creationId xmlns:a16="http://schemas.microsoft.com/office/drawing/2014/main" id="{7D2E4376-0988-C222-3D1E-67D2AB10674E}"/>
              </a:ext>
            </a:extLst>
          </p:cNvPr>
          <p:cNvCxnSpPr>
            <a:cxnSpLocks/>
            <a:stCxn id="111" idx="1"/>
            <a:endCxn id="265" idx="3"/>
          </p:cNvCxnSpPr>
          <p:nvPr/>
        </p:nvCxnSpPr>
        <p:spPr>
          <a:xfrm rot="10800000" flipV="1">
            <a:off x="3766520" y="4764088"/>
            <a:ext cx="2974241" cy="471036"/>
          </a:xfrm>
          <a:prstGeom prst="curvedConnector3">
            <a:avLst/>
          </a:prstGeom>
          <a:ln w="12700">
            <a:solidFill>
              <a:schemeClr val="tx1">
                <a:lumMod val="75000"/>
                <a:lumOff val="25000"/>
              </a:schemeClr>
            </a:solidFill>
            <a:headEnd type="triangle"/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13" name="Straight Connector 312">
            <a:extLst>
              <a:ext uri="{FF2B5EF4-FFF2-40B4-BE49-F238E27FC236}">
                <a16:creationId xmlns:a16="http://schemas.microsoft.com/office/drawing/2014/main" id="{1CE33FAD-065C-FD17-B441-FA3819F7DB5A}"/>
              </a:ext>
            </a:extLst>
          </p:cNvPr>
          <p:cNvCxnSpPr>
            <a:cxnSpLocks/>
            <a:stCxn id="464" idx="1"/>
            <a:endCxn id="111" idx="3"/>
          </p:cNvCxnSpPr>
          <p:nvPr/>
        </p:nvCxnSpPr>
        <p:spPr>
          <a:xfrm flipH="1">
            <a:off x="8645791" y="4764088"/>
            <a:ext cx="1286826" cy="0"/>
          </a:xfrm>
          <a:prstGeom prst="straightConnector1">
            <a:avLst/>
          </a:prstGeom>
          <a:ln w="12700">
            <a:solidFill>
              <a:schemeClr val="accent6"/>
            </a:solidFill>
            <a:prstDash val="solid"/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9" name="TextBox 458">
            <a:extLst>
              <a:ext uri="{FF2B5EF4-FFF2-40B4-BE49-F238E27FC236}">
                <a16:creationId xmlns:a16="http://schemas.microsoft.com/office/drawing/2014/main" id="{FAB3BD0B-E7AC-AC91-5AF2-F7BA66DC2C10}"/>
              </a:ext>
            </a:extLst>
          </p:cNvPr>
          <p:cNvSpPr txBox="1"/>
          <p:nvPr/>
        </p:nvSpPr>
        <p:spPr>
          <a:xfrm>
            <a:off x="1094557" y="3490992"/>
            <a:ext cx="1435541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i="1" dirty="0">
                <a:solidFill>
                  <a:srgbClr val="FF0000"/>
                </a:solidFill>
              </a:rPr>
              <a:t>Python</a:t>
            </a:r>
          </a:p>
          <a:p>
            <a:pPr algn="ctr"/>
            <a:endParaRPr lang="en-US" sz="1000" i="1" dirty="0">
              <a:solidFill>
                <a:srgbClr val="FF0000"/>
              </a:solidFill>
            </a:endParaRPr>
          </a:p>
          <a:p>
            <a:pPr algn="ctr"/>
            <a:r>
              <a:rPr lang="en-US" sz="1000" i="1" dirty="0">
                <a:solidFill>
                  <a:srgbClr val="FF0000"/>
                </a:solidFill>
              </a:rPr>
              <a:t>JavaScript</a:t>
            </a:r>
          </a:p>
        </p:txBody>
      </p:sp>
      <p:sp>
        <p:nvSpPr>
          <p:cNvPr id="464" name="Rounded Rectangle 463">
            <a:extLst>
              <a:ext uri="{FF2B5EF4-FFF2-40B4-BE49-F238E27FC236}">
                <a16:creationId xmlns:a16="http://schemas.microsoft.com/office/drawing/2014/main" id="{FAB15208-F4C9-589D-3831-B9ED6D7CC23F}"/>
              </a:ext>
            </a:extLst>
          </p:cNvPr>
          <p:cNvSpPr/>
          <p:nvPr/>
        </p:nvSpPr>
        <p:spPr>
          <a:xfrm>
            <a:off x="9932617" y="4489768"/>
            <a:ext cx="1905031" cy="548640"/>
          </a:xfrm>
          <a:prstGeom prst="roundRect">
            <a:avLst/>
          </a:prstGeom>
          <a:ln>
            <a:solidFill>
              <a:srgbClr val="0070C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cad_viewer_widget</a:t>
            </a:r>
            <a:br>
              <a:rPr kumimoji="0" lang="de-DE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de-DE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(4.1.5)</a:t>
            </a:r>
            <a:endParaRPr lang="en-DE" sz="16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cxnSp>
        <p:nvCxnSpPr>
          <p:cNvPr id="468" name="Straight Connector 34">
            <a:extLst>
              <a:ext uri="{FF2B5EF4-FFF2-40B4-BE49-F238E27FC236}">
                <a16:creationId xmlns:a16="http://schemas.microsoft.com/office/drawing/2014/main" id="{D317D855-6E41-0B98-F514-02D706B24DCC}"/>
              </a:ext>
            </a:extLst>
          </p:cNvPr>
          <p:cNvCxnSpPr>
            <a:cxnSpLocks/>
            <a:stCxn id="7" idx="2"/>
            <a:endCxn id="464" idx="0"/>
          </p:cNvCxnSpPr>
          <p:nvPr/>
        </p:nvCxnSpPr>
        <p:spPr>
          <a:xfrm>
            <a:off x="10885133" y="3176525"/>
            <a:ext cx="0" cy="1313243"/>
          </a:xfrm>
          <a:prstGeom prst="straightConnector1">
            <a:avLst/>
          </a:prstGeom>
          <a:ln w="12700">
            <a:solidFill>
              <a:schemeClr val="accent6"/>
            </a:solidFill>
            <a:prstDash val="solid"/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5" name="Rectangle 244">
            <a:extLst>
              <a:ext uri="{FF2B5EF4-FFF2-40B4-BE49-F238E27FC236}">
                <a16:creationId xmlns:a16="http://schemas.microsoft.com/office/drawing/2014/main" id="{8D82C586-8CA3-86F2-33DE-E741FF55DB38}"/>
              </a:ext>
            </a:extLst>
          </p:cNvPr>
          <p:cNvSpPr/>
          <p:nvPr/>
        </p:nvSpPr>
        <p:spPr>
          <a:xfrm>
            <a:off x="230271" y="4153184"/>
            <a:ext cx="1266590" cy="292971"/>
          </a:xfrm>
          <a:prstGeom prst="rect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Standalone</a:t>
            </a:r>
            <a:endParaRPr lang="en-DE" sz="1600" dirty="0">
              <a:solidFill>
                <a:schemeClr val="bg1"/>
              </a:solidFill>
            </a:endParaRPr>
          </a:p>
        </p:txBody>
      </p:sp>
      <p:sp>
        <p:nvSpPr>
          <p:cNvPr id="247" name="Rectangle 246">
            <a:extLst>
              <a:ext uri="{FF2B5EF4-FFF2-40B4-BE49-F238E27FC236}">
                <a16:creationId xmlns:a16="http://schemas.microsoft.com/office/drawing/2014/main" id="{57BB3EB0-3EFA-FAC2-216B-8DCCD7074408}"/>
              </a:ext>
            </a:extLst>
          </p:cNvPr>
          <p:cNvSpPr/>
          <p:nvPr/>
        </p:nvSpPr>
        <p:spPr>
          <a:xfrm>
            <a:off x="230271" y="4617186"/>
            <a:ext cx="1266590" cy="293804"/>
          </a:xfrm>
          <a:prstGeom prst="rect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VS Code</a:t>
            </a:r>
          </a:p>
        </p:txBody>
      </p:sp>
      <p:sp>
        <p:nvSpPr>
          <p:cNvPr id="248" name="Rectangle 247">
            <a:extLst>
              <a:ext uri="{FF2B5EF4-FFF2-40B4-BE49-F238E27FC236}">
                <a16:creationId xmlns:a16="http://schemas.microsoft.com/office/drawing/2014/main" id="{852A3B61-9AF0-1497-2443-C0946B77948B}"/>
              </a:ext>
            </a:extLst>
          </p:cNvPr>
          <p:cNvSpPr/>
          <p:nvPr/>
        </p:nvSpPr>
        <p:spPr>
          <a:xfrm>
            <a:off x="230271" y="5088221"/>
            <a:ext cx="1266590" cy="293803"/>
          </a:xfrm>
          <a:prstGeom prst="rect">
            <a:avLst/>
          </a:prstGeom>
          <a:solidFill>
            <a:schemeClr val="accent4"/>
          </a:solidFill>
          <a:ln>
            <a:solidFill>
              <a:schemeClr val="accent4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Neutralinojs</a:t>
            </a:r>
            <a:endParaRPr lang="en-DE" sz="1600" dirty="0">
              <a:solidFill>
                <a:schemeClr val="bg1"/>
              </a:solidFill>
            </a:endParaRPr>
          </a:p>
        </p:txBody>
      </p:sp>
      <p:grpSp>
        <p:nvGrpSpPr>
          <p:cNvPr id="476" name="Group 475">
            <a:extLst>
              <a:ext uri="{FF2B5EF4-FFF2-40B4-BE49-F238E27FC236}">
                <a16:creationId xmlns:a16="http://schemas.microsoft.com/office/drawing/2014/main" id="{F4747416-89DD-9C3E-F882-23EDFD31BAF2}"/>
              </a:ext>
            </a:extLst>
          </p:cNvPr>
          <p:cNvGrpSpPr/>
          <p:nvPr/>
        </p:nvGrpSpPr>
        <p:grpSpPr>
          <a:xfrm>
            <a:off x="6648112" y="4439496"/>
            <a:ext cx="298480" cy="246221"/>
            <a:chOff x="2303589" y="1482334"/>
            <a:chExt cx="298480" cy="246221"/>
          </a:xfrm>
        </p:grpSpPr>
        <p:sp>
          <p:nvSpPr>
            <p:cNvPr id="473" name="Oval 472">
              <a:extLst>
                <a:ext uri="{FF2B5EF4-FFF2-40B4-BE49-F238E27FC236}">
                  <a16:creationId xmlns:a16="http://schemas.microsoft.com/office/drawing/2014/main" id="{48978988-BCF0-70FA-7CB6-8EC8A23121DB}"/>
                </a:ext>
              </a:extLst>
            </p:cNvPr>
            <p:cNvSpPr/>
            <p:nvPr/>
          </p:nvSpPr>
          <p:spPr>
            <a:xfrm>
              <a:off x="2348639" y="1510162"/>
              <a:ext cx="201132" cy="190567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474" name="TextBox 473">
              <a:extLst>
                <a:ext uri="{FF2B5EF4-FFF2-40B4-BE49-F238E27FC236}">
                  <a16:creationId xmlns:a16="http://schemas.microsoft.com/office/drawing/2014/main" id="{624F0023-6689-57F3-9E79-95636D20AA85}"/>
                </a:ext>
              </a:extLst>
            </p:cNvPr>
            <p:cNvSpPr txBox="1"/>
            <p:nvPr/>
          </p:nvSpPr>
          <p:spPr>
            <a:xfrm>
              <a:off x="2303589" y="1482334"/>
              <a:ext cx="298480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JS</a:t>
              </a:r>
            </a:p>
          </p:txBody>
        </p:sp>
      </p:grpSp>
      <p:grpSp>
        <p:nvGrpSpPr>
          <p:cNvPr id="475" name="Group 474">
            <a:extLst>
              <a:ext uri="{FF2B5EF4-FFF2-40B4-BE49-F238E27FC236}">
                <a16:creationId xmlns:a16="http://schemas.microsoft.com/office/drawing/2014/main" id="{B6C1CF42-8B6B-67D1-ED95-175073419811}"/>
              </a:ext>
            </a:extLst>
          </p:cNvPr>
          <p:cNvGrpSpPr/>
          <p:nvPr/>
        </p:nvGrpSpPr>
        <p:grpSpPr>
          <a:xfrm>
            <a:off x="3400345" y="821505"/>
            <a:ext cx="316112" cy="246221"/>
            <a:chOff x="1821555" y="1112772"/>
            <a:chExt cx="316112" cy="246221"/>
          </a:xfrm>
        </p:grpSpPr>
        <p:sp>
          <p:nvSpPr>
            <p:cNvPr id="412" name="Oval 411">
              <a:extLst>
                <a:ext uri="{FF2B5EF4-FFF2-40B4-BE49-F238E27FC236}">
                  <a16:creationId xmlns:a16="http://schemas.microsoft.com/office/drawing/2014/main" id="{DB716EDD-B599-9907-7FA2-43F7E9E24917}"/>
                </a:ext>
              </a:extLst>
            </p:cNvPr>
            <p:cNvSpPr/>
            <p:nvPr/>
          </p:nvSpPr>
          <p:spPr>
            <a:xfrm>
              <a:off x="1879045" y="1140600"/>
              <a:ext cx="201132" cy="190567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418" name="TextBox 417">
              <a:extLst>
                <a:ext uri="{FF2B5EF4-FFF2-40B4-BE49-F238E27FC236}">
                  <a16:creationId xmlns:a16="http://schemas.microsoft.com/office/drawing/2014/main" id="{5ABF78FA-8279-EB9B-485A-A98AEFEA156D}"/>
                </a:ext>
              </a:extLst>
            </p:cNvPr>
            <p:cNvSpPr txBox="1"/>
            <p:nvPr/>
          </p:nvSpPr>
          <p:spPr>
            <a:xfrm>
              <a:off x="1821555" y="1112772"/>
              <a:ext cx="316112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Py</a:t>
              </a:r>
            </a:p>
          </p:txBody>
        </p:sp>
      </p:grpSp>
      <p:grpSp>
        <p:nvGrpSpPr>
          <p:cNvPr id="477" name="Group 476">
            <a:extLst>
              <a:ext uri="{FF2B5EF4-FFF2-40B4-BE49-F238E27FC236}">
                <a16:creationId xmlns:a16="http://schemas.microsoft.com/office/drawing/2014/main" id="{63C6DB0F-C03E-9939-DFD7-F7A93D65C768}"/>
              </a:ext>
            </a:extLst>
          </p:cNvPr>
          <p:cNvGrpSpPr/>
          <p:nvPr/>
        </p:nvGrpSpPr>
        <p:grpSpPr>
          <a:xfrm>
            <a:off x="5543483" y="821505"/>
            <a:ext cx="316112" cy="246221"/>
            <a:chOff x="1821555" y="1112772"/>
            <a:chExt cx="316112" cy="246221"/>
          </a:xfrm>
        </p:grpSpPr>
        <p:sp>
          <p:nvSpPr>
            <p:cNvPr id="478" name="Oval 477">
              <a:extLst>
                <a:ext uri="{FF2B5EF4-FFF2-40B4-BE49-F238E27FC236}">
                  <a16:creationId xmlns:a16="http://schemas.microsoft.com/office/drawing/2014/main" id="{2AF5FEDD-C2F7-F4C9-B82B-B75E8EC51DF8}"/>
                </a:ext>
              </a:extLst>
            </p:cNvPr>
            <p:cNvSpPr/>
            <p:nvPr/>
          </p:nvSpPr>
          <p:spPr>
            <a:xfrm>
              <a:off x="1879045" y="1140600"/>
              <a:ext cx="201132" cy="190567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479" name="TextBox 478">
              <a:extLst>
                <a:ext uri="{FF2B5EF4-FFF2-40B4-BE49-F238E27FC236}">
                  <a16:creationId xmlns:a16="http://schemas.microsoft.com/office/drawing/2014/main" id="{44FF2BC5-C4C9-E8DA-1AC5-21095C28C2B2}"/>
                </a:ext>
              </a:extLst>
            </p:cNvPr>
            <p:cNvSpPr txBox="1"/>
            <p:nvPr/>
          </p:nvSpPr>
          <p:spPr>
            <a:xfrm>
              <a:off x="1821555" y="1112772"/>
              <a:ext cx="316112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Py</a:t>
              </a:r>
            </a:p>
          </p:txBody>
        </p:sp>
      </p:grpSp>
      <p:grpSp>
        <p:nvGrpSpPr>
          <p:cNvPr id="480" name="Group 479">
            <a:extLst>
              <a:ext uri="{FF2B5EF4-FFF2-40B4-BE49-F238E27FC236}">
                <a16:creationId xmlns:a16="http://schemas.microsoft.com/office/drawing/2014/main" id="{12B65863-13E1-3CD0-6DDB-1D323802FAFF}"/>
              </a:ext>
            </a:extLst>
          </p:cNvPr>
          <p:cNvGrpSpPr/>
          <p:nvPr/>
        </p:nvGrpSpPr>
        <p:grpSpPr>
          <a:xfrm>
            <a:off x="7705046" y="821505"/>
            <a:ext cx="316113" cy="246221"/>
            <a:chOff x="1827818" y="1112772"/>
            <a:chExt cx="316112" cy="246221"/>
          </a:xfrm>
        </p:grpSpPr>
        <p:sp>
          <p:nvSpPr>
            <p:cNvPr id="481" name="Oval 480">
              <a:extLst>
                <a:ext uri="{FF2B5EF4-FFF2-40B4-BE49-F238E27FC236}">
                  <a16:creationId xmlns:a16="http://schemas.microsoft.com/office/drawing/2014/main" id="{CD1C52DD-02AC-98B4-3E45-C440ABCD80DC}"/>
                </a:ext>
              </a:extLst>
            </p:cNvPr>
            <p:cNvSpPr/>
            <p:nvPr/>
          </p:nvSpPr>
          <p:spPr>
            <a:xfrm>
              <a:off x="1879045" y="1140600"/>
              <a:ext cx="201132" cy="190567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482" name="TextBox 481">
              <a:extLst>
                <a:ext uri="{FF2B5EF4-FFF2-40B4-BE49-F238E27FC236}">
                  <a16:creationId xmlns:a16="http://schemas.microsoft.com/office/drawing/2014/main" id="{DF3B346F-DC66-3671-A128-1594EC9C2B5E}"/>
                </a:ext>
              </a:extLst>
            </p:cNvPr>
            <p:cNvSpPr txBox="1"/>
            <p:nvPr/>
          </p:nvSpPr>
          <p:spPr>
            <a:xfrm>
              <a:off x="1827818" y="1112772"/>
              <a:ext cx="316112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Py</a:t>
              </a:r>
            </a:p>
          </p:txBody>
        </p:sp>
      </p:grpSp>
      <p:grpSp>
        <p:nvGrpSpPr>
          <p:cNvPr id="483" name="Group 482">
            <a:extLst>
              <a:ext uri="{FF2B5EF4-FFF2-40B4-BE49-F238E27FC236}">
                <a16:creationId xmlns:a16="http://schemas.microsoft.com/office/drawing/2014/main" id="{A35F3710-8AC5-ABA4-9FC6-DF78A0C829B0}"/>
              </a:ext>
            </a:extLst>
          </p:cNvPr>
          <p:cNvGrpSpPr/>
          <p:nvPr/>
        </p:nvGrpSpPr>
        <p:grpSpPr>
          <a:xfrm>
            <a:off x="9816505" y="821505"/>
            <a:ext cx="316112" cy="246221"/>
            <a:chOff x="1821555" y="1112772"/>
            <a:chExt cx="316112" cy="246221"/>
          </a:xfrm>
        </p:grpSpPr>
        <p:sp>
          <p:nvSpPr>
            <p:cNvPr id="484" name="Oval 483">
              <a:extLst>
                <a:ext uri="{FF2B5EF4-FFF2-40B4-BE49-F238E27FC236}">
                  <a16:creationId xmlns:a16="http://schemas.microsoft.com/office/drawing/2014/main" id="{8D1DF7BB-DEC8-88CB-D7F1-2C7C69D4C8B9}"/>
                </a:ext>
              </a:extLst>
            </p:cNvPr>
            <p:cNvSpPr/>
            <p:nvPr/>
          </p:nvSpPr>
          <p:spPr>
            <a:xfrm>
              <a:off x="1879045" y="1140600"/>
              <a:ext cx="201132" cy="190567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485" name="TextBox 484">
              <a:extLst>
                <a:ext uri="{FF2B5EF4-FFF2-40B4-BE49-F238E27FC236}">
                  <a16:creationId xmlns:a16="http://schemas.microsoft.com/office/drawing/2014/main" id="{C49E0658-EC46-41E1-0F40-537B2F77AA62}"/>
                </a:ext>
              </a:extLst>
            </p:cNvPr>
            <p:cNvSpPr txBox="1"/>
            <p:nvPr/>
          </p:nvSpPr>
          <p:spPr>
            <a:xfrm>
              <a:off x="1821555" y="1112772"/>
              <a:ext cx="316112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Py</a:t>
              </a:r>
            </a:p>
          </p:txBody>
        </p:sp>
      </p:grpSp>
      <p:grpSp>
        <p:nvGrpSpPr>
          <p:cNvPr id="486" name="Group 485">
            <a:extLst>
              <a:ext uri="{FF2B5EF4-FFF2-40B4-BE49-F238E27FC236}">
                <a16:creationId xmlns:a16="http://schemas.microsoft.com/office/drawing/2014/main" id="{53292E09-CD60-FD01-4EFB-258931425A5C}"/>
              </a:ext>
            </a:extLst>
          </p:cNvPr>
          <p:cNvGrpSpPr/>
          <p:nvPr/>
        </p:nvGrpSpPr>
        <p:grpSpPr>
          <a:xfrm>
            <a:off x="6638579" y="2580677"/>
            <a:ext cx="316112" cy="246221"/>
            <a:chOff x="1821555" y="1112772"/>
            <a:chExt cx="316112" cy="246221"/>
          </a:xfrm>
        </p:grpSpPr>
        <p:sp>
          <p:nvSpPr>
            <p:cNvPr id="487" name="Oval 486">
              <a:extLst>
                <a:ext uri="{FF2B5EF4-FFF2-40B4-BE49-F238E27FC236}">
                  <a16:creationId xmlns:a16="http://schemas.microsoft.com/office/drawing/2014/main" id="{58CC4026-7E4F-B014-C3FB-07AE012190F7}"/>
                </a:ext>
              </a:extLst>
            </p:cNvPr>
            <p:cNvSpPr/>
            <p:nvPr/>
          </p:nvSpPr>
          <p:spPr>
            <a:xfrm>
              <a:off x="1879045" y="1140600"/>
              <a:ext cx="201132" cy="190567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488" name="TextBox 487">
              <a:extLst>
                <a:ext uri="{FF2B5EF4-FFF2-40B4-BE49-F238E27FC236}">
                  <a16:creationId xmlns:a16="http://schemas.microsoft.com/office/drawing/2014/main" id="{FBF9B260-FACD-4D19-A23D-626107E74959}"/>
                </a:ext>
              </a:extLst>
            </p:cNvPr>
            <p:cNvSpPr txBox="1"/>
            <p:nvPr/>
          </p:nvSpPr>
          <p:spPr>
            <a:xfrm>
              <a:off x="1821555" y="1112772"/>
              <a:ext cx="316112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Py</a:t>
              </a:r>
            </a:p>
          </p:txBody>
        </p:sp>
      </p:grpSp>
      <p:grpSp>
        <p:nvGrpSpPr>
          <p:cNvPr id="489" name="Group 488">
            <a:extLst>
              <a:ext uri="{FF2B5EF4-FFF2-40B4-BE49-F238E27FC236}">
                <a16:creationId xmlns:a16="http://schemas.microsoft.com/office/drawing/2014/main" id="{E4D67E16-ACE1-1B72-1736-251231C888B1}"/>
              </a:ext>
            </a:extLst>
          </p:cNvPr>
          <p:cNvGrpSpPr/>
          <p:nvPr/>
        </p:nvGrpSpPr>
        <p:grpSpPr>
          <a:xfrm>
            <a:off x="9827036" y="2580677"/>
            <a:ext cx="316112" cy="246221"/>
            <a:chOff x="1821555" y="1112772"/>
            <a:chExt cx="316112" cy="246221"/>
          </a:xfrm>
        </p:grpSpPr>
        <p:sp>
          <p:nvSpPr>
            <p:cNvPr id="490" name="Oval 489">
              <a:extLst>
                <a:ext uri="{FF2B5EF4-FFF2-40B4-BE49-F238E27FC236}">
                  <a16:creationId xmlns:a16="http://schemas.microsoft.com/office/drawing/2014/main" id="{C75E9DA0-09CD-B2F3-42FC-FA1BD80D60BD}"/>
                </a:ext>
              </a:extLst>
            </p:cNvPr>
            <p:cNvSpPr/>
            <p:nvPr/>
          </p:nvSpPr>
          <p:spPr>
            <a:xfrm>
              <a:off x="1879045" y="1140600"/>
              <a:ext cx="201132" cy="190567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491" name="TextBox 490">
              <a:extLst>
                <a:ext uri="{FF2B5EF4-FFF2-40B4-BE49-F238E27FC236}">
                  <a16:creationId xmlns:a16="http://schemas.microsoft.com/office/drawing/2014/main" id="{FF600F01-B3ED-DD11-2396-AD31C0DB700A}"/>
                </a:ext>
              </a:extLst>
            </p:cNvPr>
            <p:cNvSpPr txBox="1"/>
            <p:nvPr/>
          </p:nvSpPr>
          <p:spPr>
            <a:xfrm>
              <a:off x="1821555" y="1112772"/>
              <a:ext cx="316112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Py</a:t>
              </a:r>
            </a:p>
          </p:txBody>
        </p:sp>
      </p:grpSp>
      <p:grpSp>
        <p:nvGrpSpPr>
          <p:cNvPr id="492" name="Group 491">
            <a:extLst>
              <a:ext uri="{FF2B5EF4-FFF2-40B4-BE49-F238E27FC236}">
                <a16:creationId xmlns:a16="http://schemas.microsoft.com/office/drawing/2014/main" id="{DAB5DBE5-F4F8-A0B5-A9DF-A6A8023A443E}"/>
              </a:ext>
            </a:extLst>
          </p:cNvPr>
          <p:cNvGrpSpPr/>
          <p:nvPr/>
        </p:nvGrpSpPr>
        <p:grpSpPr>
          <a:xfrm>
            <a:off x="9819616" y="4439496"/>
            <a:ext cx="298480" cy="246221"/>
            <a:chOff x="2303589" y="1482334"/>
            <a:chExt cx="298480" cy="246221"/>
          </a:xfrm>
        </p:grpSpPr>
        <p:sp>
          <p:nvSpPr>
            <p:cNvPr id="493" name="Oval 492">
              <a:extLst>
                <a:ext uri="{FF2B5EF4-FFF2-40B4-BE49-F238E27FC236}">
                  <a16:creationId xmlns:a16="http://schemas.microsoft.com/office/drawing/2014/main" id="{025ED184-B3F7-127D-27E8-8642686FA5CB}"/>
                </a:ext>
              </a:extLst>
            </p:cNvPr>
            <p:cNvSpPr/>
            <p:nvPr/>
          </p:nvSpPr>
          <p:spPr>
            <a:xfrm>
              <a:off x="2348639" y="1510162"/>
              <a:ext cx="201132" cy="190567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494" name="TextBox 493">
              <a:extLst>
                <a:ext uri="{FF2B5EF4-FFF2-40B4-BE49-F238E27FC236}">
                  <a16:creationId xmlns:a16="http://schemas.microsoft.com/office/drawing/2014/main" id="{F22AEBCD-F54F-EA7E-AC46-48774B325D6B}"/>
                </a:ext>
              </a:extLst>
            </p:cNvPr>
            <p:cNvSpPr txBox="1"/>
            <p:nvPr/>
          </p:nvSpPr>
          <p:spPr>
            <a:xfrm>
              <a:off x="2303589" y="1482334"/>
              <a:ext cx="298480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JS</a:t>
              </a:r>
            </a:p>
          </p:txBody>
        </p:sp>
      </p:grpSp>
      <p:grpSp>
        <p:nvGrpSpPr>
          <p:cNvPr id="495" name="Group 494">
            <a:extLst>
              <a:ext uri="{FF2B5EF4-FFF2-40B4-BE49-F238E27FC236}">
                <a16:creationId xmlns:a16="http://schemas.microsoft.com/office/drawing/2014/main" id="{1A4927DC-83FB-08EA-F7F4-F12AECDD018F}"/>
              </a:ext>
            </a:extLst>
          </p:cNvPr>
          <p:cNvGrpSpPr/>
          <p:nvPr/>
        </p:nvGrpSpPr>
        <p:grpSpPr>
          <a:xfrm>
            <a:off x="6648112" y="5621190"/>
            <a:ext cx="298480" cy="246221"/>
            <a:chOff x="2303589" y="1482334"/>
            <a:chExt cx="298480" cy="246221"/>
          </a:xfrm>
        </p:grpSpPr>
        <p:sp>
          <p:nvSpPr>
            <p:cNvPr id="496" name="Oval 495">
              <a:extLst>
                <a:ext uri="{FF2B5EF4-FFF2-40B4-BE49-F238E27FC236}">
                  <a16:creationId xmlns:a16="http://schemas.microsoft.com/office/drawing/2014/main" id="{B6ADA519-1836-153D-ACCB-258445C2E66B}"/>
                </a:ext>
              </a:extLst>
            </p:cNvPr>
            <p:cNvSpPr/>
            <p:nvPr/>
          </p:nvSpPr>
          <p:spPr>
            <a:xfrm>
              <a:off x="2348639" y="1510162"/>
              <a:ext cx="201132" cy="190567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497" name="TextBox 496">
              <a:extLst>
                <a:ext uri="{FF2B5EF4-FFF2-40B4-BE49-F238E27FC236}">
                  <a16:creationId xmlns:a16="http://schemas.microsoft.com/office/drawing/2014/main" id="{326E6E8C-C749-07F1-7B2A-941FD2B11D4D}"/>
                </a:ext>
              </a:extLst>
            </p:cNvPr>
            <p:cNvSpPr txBox="1"/>
            <p:nvPr/>
          </p:nvSpPr>
          <p:spPr>
            <a:xfrm>
              <a:off x="2303589" y="1482334"/>
              <a:ext cx="298480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JS</a:t>
              </a:r>
            </a:p>
          </p:txBody>
        </p:sp>
      </p:grpSp>
      <p:cxnSp>
        <p:nvCxnSpPr>
          <p:cNvPr id="502" name="Straight Connector 501">
            <a:extLst>
              <a:ext uri="{FF2B5EF4-FFF2-40B4-BE49-F238E27FC236}">
                <a16:creationId xmlns:a16="http://schemas.microsoft.com/office/drawing/2014/main" id="{195FFF1A-945B-6A3B-C89C-3F2B44F15FD8}"/>
              </a:ext>
            </a:extLst>
          </p:cNvPr>
          <p:cNvCxnSpPr>
            <a:cxnSpLocks/>
            <a:stCxn id="9" idx="3"/>
            <a:endCxn id="7" idx="1"/>
          </p:cNvCxnSpPr>
          <p:nvPr/>
        </p:nvCxnSpPr>
        <p:spPr>
          <a:xfrm flipV="1">
            <a:off x="8645791" y="2902205"/>
            <a:ext cx="1286826" cy="1"/>
          </a:xfrm>
          <a:prstGeom prst="curvedConnector3">
            <a:avLst>
              <a:gd name="adj1" fmla="val 50000"/>
            </a:avLst>
          </a:prstGeom>
          <a:ln w="12700">
            <a:solidFill>
              <a:schemeClr val="accent6"/>
            </a:solidFill>
            <a:prstDash val="solid"/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2" name="Rounded Rectangle 521">
            <a:extLst>
              <a:ext uri="{FF2B5EF4-FFF2-40B4-BE49-F238E27FC236}">
                <a16:creationId xmlns:a16="http://schemas.microsoft.com/office/drawing/2014/main" id="{1B6B6842-B1C1-1451-B776-C96E3E39AE3E}"/>
              </a:ext>
            </a:extLst>
          </p:cNvPr>
          <p:cNvSpPr/>
          <p:nvPr/>
        </p:nvSpPr>
        <p:spPr>
          <a:xfrm>
            <a:off x="2790554" y="4617187"/>
            <a:ext cx="977848" cy="293802"/>
          </a:xfrm>
          <a:prstGeom prst="roundRect">
            <a:avLst/>
          </a:prstGeom>
          <a:ln w="19050">
            <a:solidFill>
              <a:schemeClr val="accent2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tIns="0" rIns="36000" bIns="0" rtlCol="0" anchor="ctr"/>
          <a:lstStyle/>
          <a:p>
            <a:pPr algn="ctr"/>
            <a:r>
              <a:rPr lang="de-DE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WebView</a:t>
            </a:r>
            <a:endParaRPr lang="en-DE" sz="16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cxnSp>
        <p:nvCxnSpPr>
          <p:cNvPr id="525" name="Straight Connector 31">
            <a:extLst>
              <a:ext uri="{FF2B5EF4-FFF2-40B4-BE49-F238E27FC236}">
                <a16:creationId xmlns:a16="http://schemas.microsoft.com/office/drawing/2014/main" id="{7E24E7A1-D620-7001-A1A5-A8AA2F4097E0}"/>
              </a:ext>
            </a:extLst>
          </p:cNvPr>
          <p:cNvCxnSpPr>
            <a:cxnSpLocks/>
            <a:stCxn id="264" idx="3"/>
            <a:endCxn id="522" idx="1"/>
          </p:cNvCxnSpPr>
          <p:nvPr/>
        </p:nvCxnSpPr>
        <p:spPr>
          <a:xfrm>
            <a:off x="2604603" y="4764088"/>
            <a:ext cx="185951" cy="0"/>
          </a:xfrm>
          <a:prstGeom prst="straightConnector1">
            <a:avLst/>
          </a:prstGeom>
          <a:ln w="12700">
            <a:solidFill>
              <a:schemeClr val="tx1">
                <a:lumMod val="75000"/>
                <a:lumOff val="25000"/>
              </a:schemeClr>
            </a:solidFill>
            <a:headEnd type="non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585" name="Group 584">
            <a:extLst>
              <a:ext uri="{FF2B5EF4-FFF2-40B4-BE49-F238E27FC236}">
                <a16:creationId xmlns:a16="http://schemas.microsoft.com/office/drawing/2014/main" id="{D6F26095-0A94-2BBD-E618-AF609F448047}"/>
              </a:ext>
            </a:extLst>
          </p:cNvPr>
          <p:cNvGrpSpPr/>
          <p:nvPr/>
        </p:nvGrpSpPr>
        <p:grpSpPr>
          <a:xfrm>
            <a:off x="1397131" y="2580677"/>
            <a:ext cx="316112" cy="246221"/>
            <a:chOff x="1821555" y="1112772"/>
            <a:chExt cx="316112" cy="246221"/>
          </a:xfrm>
        </p:grpSpPr>
        <p:sp>
          <p:nvSpPr>
            <p:cNvPr id="586" name="Oval 585">
              <a:extLst>
                <a:ext uri="{FF2B5EF4-FFF2-40B4-BE49-F238E27FC236}">
                  <a16:creationId xmlns:a16="http://schemas.microsoft.com/office/drawing/2014/main" id="{BB4202FD-C1A1-7A79-05EB-AA3D8B1BF5BF}"/>
                </a:ext>
              </a:extLst>
            </p:cNvPr>
            <p:cNvSpPr/>
            <p:nvPr/>
          </p:nvSpPr>
          <p:spPr>
            <a:xfrm>
              <a:off x="1879045" y="1140600"/>
              <a:ext cx="201132" cy="190567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587" name="TextBox 586">
              <a:extLst>
                <a:ext uri="{FF2B5EF4-FFF2-40B4-BE49-F238E27FC236}">
                  <a16:creationId xmlns:a16="http://schemas.microsoft.com/office/drawing/2014/main" id="{002650C5-D573-45AB-BD1D-B3A2F4A3452E}"/>
                </a:ext>
              </a:extLst>
            </p:cNvPr>
            <p:cNvSpPr txBox="1"/>
            <p:nvPr/>
          </p:nvSpPr>
          <p:spPr>
            <a:xfrm>
              <a:off x="1821555" y="1112772"/>
              <a:ext cx="316112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Py</a:t>
              </a:r>
            </a:p>
          </p:txBody>
        </p:sp>
      </p:grpSp>
      <p:cxnSp>
        <p:nvCxnSpPr>
          <p:cNvPr id="14" name="Straight Connector 312">
            <a:extLst>
              <a:ext uri="{FF2B5EF4-FFF2-40B4-BE49-F238E27FC236}">
                <a16:creationId xmlns:a16="http://schemas.microsoft.com/office/drawing/2014/main" id="{3AD0A9AD-8489-D61B-CB2A-419FC91C3D15}"/>
              </a:ext>
            </a:extLst>
          </p:cNvPr>
          <p:cNvCxnSpPr>
            <a:cxnSpLocks/>
            <a:stCxn id="464" idx="2"/>
            <a:endCxn id="105" idx="3"/>
          </p:cNvCxnSpPr>
          <p:nvPr/>
        </p:nvCxnSpPr>
        <p:spPr>
          <a:xfrm rot="5400000">
            <a:off x="9308969" y="4375230"/>
            <a:ext cx="912986" cy="2239342"/>
          </a:xfrm>
          <a:prstGeom prst="bentConnector2">
            <a:avLst/>
          </a:prstGeom>
          <a:ln w="12700">
            <a:solidFill>
              <a:schemeClr val="accent6"/>
            </a:solidFill>
            <a:prstDash val="solid"/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ectangle 31">
            <a:extLst>
              <a:ext uri="{FF2B5EF4-FFF2-40B4-BE49-F238E27FC236}">
                <a16:creationId xmlns:a16="http://schemas.microsoft.com/office/drawing/2014/main" id="{C5E32701-C5E2-0CDC-43EB-7D9DAE38C748}"/>
              </a:ext>
            </a:extLst>
          </p:cNvPr>
          <p:cNvSpPr/>
          <p:nvPr/>
        </p:nvSpPr>
        <p:spPr>
          <a:xfrm>
            <a:off x="10207690" y="1318727"/>
            <a:ext cx="90912" cy="9619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7CF1325B-7FDD-EC28-75AC-D6CBE19324F3}"/>
              </a:ext>
            </a:extLst>
          </p:cNvPr>
          <p:cNvSpPr/>
          <p:nvPr/>
        </p:nvSpPr>
        <p:spPr>
          <a:xfrm>
            <a:off x="10207690" y="3080332"/>
            <a:ext cx="90912" cy="9619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72BBDC4-BC32-F277-C7D7-917DDA5A5166}"/>
              </a:ext>
            </a:extLst>
          </p:cNvPr>
          <p:cNvSpPr txBox="1"/>
          <p:nvPr/>
        </p:nvSpPr>
        <p:spPr>
          <a:xfrm>
            <a:off x="296902" y="298533"/>
            <a:ext cx="13118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2026-09-18</a:t>
            </a:r>
          </a:p>
        </p:txBody>
      </p:sp>
    </p:spTree>
    <p:extLst>
      <p:ext uri="{BB962C8B-B14F-4D97-AF65-F5344CB8AC3E}">
        <p14:creationId xmlns:p14="http://schemas.microsoft.com/office/powerpoint/2010/main" val="388029094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7831</TotalTime>
  <Words>264</Words>
  <Application>Microsoft Macintosh PowerPoint</Application>
  <PresentationFormat>Widescreen</PresentationFormat>
  <Paragraphs>88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Aptos Display</vt:lpstr>
      <vt:lpstr>Arial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Bernhard Walter</dc:creator>
  <cp:lastModifiedBy>Bernhard Walter</cp:lastModifiedBy>
  <cp:revision>37</cp:revision>
  <cp:lastPrinted>2026-09-15T08:42:28Z</cp:lastPrinted>
  <dcterms:created xsi:type="dcterms:W3CDTF">2025-04-13T11:06:09Z</dcterms:created>
  <dcterms:modified xsi:type="dcterms:W3CDTF">2026-10-13T16:43:18Z</dcterms:modified>
</cp:coreProperties>
</file>